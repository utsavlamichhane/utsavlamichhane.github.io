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943600" y="-1097280"/>
            <a:ext cx="4572000" cy="6400800"/>
          </a:xfrm>
          <a:prstGeom prst="rect">
            <a:avLst/>
          </a:prstGeom>
          <a:noFill/>
          <a:ln/>
        </p:spPr>
        <p:txBody>
          <a:bodyPr wrap="square" rtlCol="0" anchor="ctr"/>
          <a:lstStyle/>
          <a:p>
            <a:pPr algn="ctr" indent="0" marL="0">
              <a:buNone/>
            </a:pPr>
            <a:r>
              <a:rPr lang="en-US" sz="36000" b="1" dirty="0">
                <a:solidFill>
                  <a:srgbClr val="065A82">
                    <a:alpha val="50000"/>
                  </a:srgbClr>
                </a:solidFill>
                <a:latin typeface="Calibri" pitchFamily="34" charset="0"/>
                <a:ea typeface="Calibri" pitchFamily="34" charset="-122"/>
                <a:cs typeface="Calibri" pitchFamily="34" charset="-120"/>
              </a:rPr>
              <a:t>0</a:t>
            </a:r>
            <a:endParaRPr lang="en-US" sz="36000" dirty="0"/>
          </a:p>
        </p:txBody>
      </p:sp>
      <p:sp>
        <p:nvSpPr>
          <p:cNvPr id="3" name="Text 1"/>
          <p:cNvSpPr/>
          <p:nvPr/>
        </p:nvSpPr>
        <p:spPr>
          <a:xfrm>
            <a:off x="640080" y="1188720"/>
            <a:ext cx="7863840" cy="365760"/>
          </a:xfrm>
          <a:prstGeom prst="rect">
            <a:avLst/>
          </a:prstGeom>
          <a:noFill/>
          <a:ln/>
        </p:spPr>
        <p:txBody>
          <a:bodyPr wrap="square" lIns="0" tIns="0" rIns="0" bIns="0" rtlCol="0" anchor="ctr"/>
          <a:lstStyle/>
          <a:p>
            <a:pPr indent="0" marL="0">
              <a:buNone/>
            </a:pPr>
            <a:r>
              <a:rPr lang="en-US" sz="1200" b="1" spc="800" kern="0" dirty="0">
                <a:solidFill>
                  <a:srgbClr val="1C7293"/>
                </a:solidFill>
                <a:latin typeface="Calibri" pitchFamily="34" charset="0"/>
                <a:ea typeface="Calibri" pitchFamily="34" charset="-122"/>
                <a:cs typeface="Calibri" pitchFamily="34" charset="-120"/>
              </a:rPr>
              <a:t>STEP 00  /  mbX Pro</a:t>
            </a:r>
            <a:endParaRPr lang="en-US" sz="1200" dirty="0"/>
          </a:p>
        </p:txBody>
      </p:sp>
      <p:sp>
        <p:nvSpPr>
          <p:cNvPr id="4" name="Text 2"/>
          <p:cNvSpPr/>
          <p:nvPr/>
        </p:nvSpPr>
        <p:spPr>
          <a:xfrm>
            <a:off x="640080" y="1600200"/>
            <a:ext cx="7863840" cy="10972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Primer Identifier (Pro)</a:t>
            </a:r>
            <a:endParaRPr lang="en-US" sz="4000" dirty="0"/>
          </a:p>
        </p:txBody>
      </p:sp>
      <p:sp>
        <p:nvSpPr>
          <p:cNvPr id="5" name="Text 3"/>
          <p:cNvSpPr/>
          <p:nvPr/>
        </p:nvSpPr>
        <p:spPr>
          <a:xfrm>
            <a:off x="640080" y="2834640"/>
            <a:ext cx="786384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Four detectors propose. cutadapt disposes.</a:t>
            </a:r>
            <a:endParaRPr lang="en-US" sz="1800" dirty="0"/>
          </a:p>
        </p:txBody>
      </p:sp>
      <p:sp>
        <p:nvSpPr>
          <p:cNvPr id="6" name="Shape 4"/>
          <p:cNvSpPr/>
          <p:nvPr/>
        </p:nvSpPr>
        <p:spPr>
          <a:xfrm>
            <a:off x="640080" y="4160520"/>
            <a:ext cx="1371600" cy="36576"/>
          </a:xfrm>
          <a:prstGeom prst="rect">
            <a:avLst/>
          </a:prstGeom>
          <a:solidFill>
            <a:srgbClr val="1C7293"/>
          </a:solidFill>
          <a:ln w="12700">
            <a:solidFill>
              <a:srgbClr val="1C7293"/>
            </a:solidFill>
            <a:prstDash val="solid"/>
          </a:ln>
        </p:spPr>
      </p:sp>
      <p:sp>
        <p:nvSpPr>
          <p:cNvPr id="7" name="Text 5"/>
          <p:cNvSpPr/>
          <p:nvPr/>
        </p:nvSpPr>
        <p:spPr>
          <a:xfrm>
            <a:off x="640080" y="4297680"/>
            <a:ext cx="786384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Beta release  ·  University talk  ·  mbX Pro 1.5.0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WHY THIS STEP EXISTS</a:t>
            </a:r>
            <a:endParaRPr lang="en-US" sz="1000" dirty="0"/>
          </a:p>
        </p:txBody>
      </p:sp>
      <p:sp>
        <p:nvSpPr>
          <p:cNvPr id="4" name="Text 2"/>
          <p:cNvSpPr/>
          <p:nvPr/>
        </p:nvSpPr>
        <p:spPr>
          <a:xfrm>
            <a:off x="502920" y="320040"/>
            <a:ext cx="82296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Primers are not biology.</a:t>
            </a:r>
            <a:endParaRPr lang="en-US" sz="2800" dirty="0"/>
          </a:p>
        </p:txBody>
      </p:sp>
      <p:sp>
        <p:nvSpPr>
          <p:cNvPr id="5" name="Text 3"/>
          <p:cNvSpPr/>
          <p:nvPr/>
        </p:nvSpPr>
        <p:spPr>
          <a:xfrm>
            <a:off x="502920" y="1234440"/>
            <a:ext cx="4754880" cy="3291840"/>
          </a:xfrm>
          <a:prstGeom prst="rect">
            <a:avLst/>
          </a:prstGeom>
          <a:noFill/>
          <a:ln/>
        </p:spPr>
        <p:txBody>
          <a:bodyPr wrap="square"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Every 16S read starts with a primer — a short synthetic anchor (18–22 bases) used during PCR. Leave it in and DADA2 inflates errors. Trim it blindly and you delete real biology when the sequencing facility had already trimmed it. Step 0 has to answer THREE questions at once: is a primer there at all? which one? how confident are we?</a:t>
            </a:r>
            <a:endParaRPr lang="en-US" sz="1400" dirty="0"/>
          </a:p>
        </p:txBody>
      </p:sp>
      <p:sp>
        <p:nvSpPr>
          <p:cNvPr id="6" name="Shape 4"/>
          <p:cNvSpPr/>
          <p:nvPr/>
        </p:nvSpPr>
        <p:spPr>
          <a:xfrm>
            <a:off x="5486400" y="1234440"/>
            <a:ext cx="3246120" cy="3291840"/>
          </a:xfrm>
          <a:prstGeom prst="rect">
            <a:avLst/>
          </a:prstGeom>
          <a:solidFill>
            <a:srgbClr val="EAF2F8"/>
          </a:solidFill>
          <a:ln w="12700">
            <a:solidFill>
              <a:srgbClr val="065A82"/>
            </a:solidFill>
            <a:prstDash val="solid"/>
          </a:ln>
          <a:effectLst>
            <a:outerShdw sx="100000" sy="100000" kx="0" ky="0" algn="bl" rotWithShape="0" blurRad="101600" dist="25400" dir="5400000">
              <a:srgbClr val="000000">
                <a:alpha val="12000"/>
              </a:srgbClr>
            </a:outerShdw>
          </a:effectLst>
        </p:spPr>
      </p:sp>
      <p:sp>
        <p:nvSpPr>
          <p:cNvPr id="7" name="Text 5"/>
          <p:cNvSpPr/>
          <p:nvPr/>
        </p:nvSpPr>
        <p:spPr>
          <a:xfrm>
            <a:off x="5623560" y="1325880"/>
            <a:ext cx="3017520" cy="320040"/>
          </a:xfrm>
          <a:prstGeom prst="rect">
            <a:avLst/>
          </a:prstGeom>
          <a:noFill/>
          <a:ln/>
        </p:spPr>
        <p:txBody>
          <a:bodyPr wrap="square" rtlCol="0" anchor="ctr"/>
          <a:lstStyle/>
          <a:p>
            <a:pPr indent="0" marL="0">
              <a:buNone/>
            </a:pPr>
            <a:r>
              <a:rPr lang="en-US" sz="1100" b="1" spc="300" kern="0" dirty="0">
                <a:solidFill>
                  <a:srgbClr val="065A82"/>
                </a:solidFill>
                <a:latin typeface="Calibri" pitchFamily="34" charset="0"/>
                <a:ea typeface="Calibri" pitchFamily="34" charset="-122"/>
                <a:cs typeface="Calibri" pitchFamily="34" charset="-120"/>
              </a:rPr>
              <a:t>The three risks</a:t>
            </a:r>
            <a:endParaRPr lang="en-US" sz="1100" dirty="0"/>
          </a:p>
        </p:txBody>
      </p:sp>
      <p:sp>
        <p:nvSpPr>
          <p:cNvPr id="8" name="Text 6"/>
          <p:cNvSpPr/>
          <p:nvPr/>
        </p:nvSpPr>
        <p:spPr>
          <a:xfrm>
            <a:off x="5623560" y="1691640"/>
            <a:ext cx="3017520" cy="274320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Custom-lab primers (not in any database).</a:t>
            </a:r>
            <a:endParaRPr lang="en-US" sz="1200" dirty="0"/>
          </a:p>
          <a:p>
            <a:pPr indent="0" marL="0">
              <a:buNone/>
            </a:pP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Facility pre-trimming (already gone).</a:t>
            </a:r>
            <a:endParaRPr lang="en-US" sz="1200" dirty="0"/>
          </a:p>
          <a:p>
            <a:pPr indent="0" marL="0">
              <a:buNone/>
            </a:pP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Weak match rate (primer present in only half the reads — silently trimming half the data is a disaster).</a:t>
            </a:r>
            <a:endParaRPr lang="en-US" sz="1200" dirty="0"/>
          </a:p>
        </p:txBody>
      </p:sp>
      <p:sp>
        <p:nvSpPr>
          <p:cNvPr id="9" name="Text 7"/>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2/15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FIRST</a:t>
            </a:r>
            <a:endParaRPr lang="en-US" sz="1000" dirty="0"/>
          </a:p>
        </p:txBody>
      </p:sp>
      <p:sp>
        <p:nvSpPr>
          <p:cNvPr id="4" name="Shape 2"/>
          <p:cNvSpPr/>
          <p:nvPr/>
        </p:nvSpPr>
        <p:spPr>
          <a:xfrm>
            <a:off x="411480" y="1051560"/>
            <a:ext cx="868680" cy="868680"/>
          </a:xfrm>
          <a:prstGeom prst="ellipse">
            <a:avLst/>
          </a:prstGeom>
          <a:solidFill>
            <a:srgbClr val="1C7293"/>
          </a:solidFill>
          <a:ln w="12700">
            <a:solidFill>
              <a:srgbClr val="1C7293"/>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411480" y="105156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6" name="Text 4"/>
          <p:cNvSpPr/>
          <p:nvPr/>
        </p:nvSpPr>
        <p:spPr>
          <a:xfrm>
            <a:off x="1417320" y="1051560"/>
            <a:ext cx="73152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Open the FASTQ directory, sub-sample.</a:t>
            </a:r>
            <a:endParaRPr lang="en-US" sz="2800" dirty="0"/>
          </a:p>
        </p:txBody>
      </p:sp>
      <p:sp>
        <p:nvSpPr>
          <p:cNvPr id="7" name="Text 5"/>
          <p:cNvSpPr/>
          <p:nvPr/>
        </p:nvSpPr>
        <p:spPr>
          <a:xfrm>
            <a:off x="1417320" y="1783080"/>
            <a:ext cx="7315200" cy="8229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Find every paired-end *_R1 / *_R2 pair. Sub-sample 5,000 reads per orientation — enough to estimate any 5′-end match distribution within ~1 %.</a:t>
            </a:r>
            <a:endParaRPr lang="en-US" sz="1300" dirty="0"/>
          </a:p>
        </p:txBody>
      </p:sp>
      <p:sp>
        <p:nvSpPr>
          <p:cNvPr id="8" name="Shape 6"/>
          <p:cNvSpPr/>
          <p:nvPr/>
        </p:nvSpPr>
        <p:spPr>
          <a:xfrm>
            <a:off x="548640" y="2679192"/>
            <a:ext cx="164592" cy="164592"/>
          </a:xfrm>
          <a:prstGeom prst="ellipse">
            <a:avLst/>
          </a:prstGeom>
          <a:solidFill>
            <a:srgbClr val="1C7293"/>
          </a:solidFill>
          <a:ln w="12700">
            <a:solidFill>
              <a:srgbClr val="1C7293"/>
            </a:solidFill>
            <a:prstDash val="solid"/>
          </a:ln>
        </p:spPr>
      </p:sp>
      <p:sp>
        <p:nvSpPr>
          <p:cNvPr id="9" name="Text 7"/>
          <p:cNvSpPr/>
          <p:nvPr/>
        </p:nvSpPr>
        <p:spPr>
          <a:xfrm>
            <a:off x="822960" y="260604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5,000 reads per orientation</a:t>
            </a:r>
            <a:endParaRPr lang="en-US" sz="1100" dirty="0"/>
          </a:p>
        </p:txBody>
      </p:sp>
      <p:sp>
        <p:nvSpPr>
          <p:cNvPr id="10" name="Text 8"/>
          <p:cNvSpPr/>
          <p:nvPr/>
        </p:nvSpPr>
        <p:spPr>
          <a:xfrm>
            <a:off x="822960" y="278892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(--samples; default empirical sweet spot)</a:t>
            </a:r>
            <a:endParaRPr lang="en-US" sz="900" dirty="0"/>
          </a:p>
        </p:txBody>
      </p:sp>
      <p:sp>
        <p:nvSpPr>
          <p:cNvPr id="11" name="Shape 9"/>
          <p:cNvSpPr/>
          <p:nvPr/>
        </p:nvSpPr>
        <p:spPr>
          <a:xfrm>
            <a:off x="548640" y="3182112"/>
            <a:ext cx="164592" cy="164592"/>
          </a:xfrm>
          <a:prstGeom prst="ellipse">
            <a:avLst/>
          </a:prstGeom>
          <a:solidFill>
            <a:srgbClr val="1C7293"/>
          </a:solidFill>
          <a:ln w="12700">
            <a:solidFill>
              <a:srgbClr val="1C7293"/>
            </a:solidFill>
            <a:prstDash val="solid"/>
          </a:ln>
        </p:spPr>
      </p:sp>
      <p:sp>
        <p:nvSpPr>
          <p:cNvPr id="12" name="Text 10"/>
          <p:cNvSpPr/>
          <p:nvPr/>
        </p:nvSpPr>
        <p:spPr>
          <a:xfrm>
            <a:off x="822960" y="310896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Decode Phred+33 to integer quality scores</a:t>
            </a:r>
            <a:endParaRPr lang="en-US" sz="1100" dirty="0"/>
          </a:p>
        </p:txBody>
      </p:sp>
      <p:sp>
        <p:nvSpPr>
          <p:cNvPr id="13" name="Text 11"/>
          <p:cNvSpPr/>
          <p:nvPr/>
        </p:nvSpPr>
        <p:spPr>
          <a:xfrm>
            <a:off x="822960" y="329184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(same as Step 3 does)</a:t>
            </a:r>
            <a:endParaRPr lang="en-US" sz="900" dirty="0"/>
          </a:p>
        </p:txBody>
      </p:sp>
      <p:sp>
        <p:nvSpPr>
          <p:cNvPr id="14" name="Shape 12"/>
          <p:cNvSpPr/>
          <p:nvPr/>
        </p:nvSpPr>
        <p:spPr>
          <a:xfrm>
            <a:off x="548640" y="3685032"/>
            <a:ext cx="164592" cy="164592"/>
          </a:xfrm>
          <a:prstGeom prst="ellipse">
            <a:avLst/>
          </a:prstGeom>
          <a:solidFill>
            <a:srgbClr val="1C7293"/>
          </a:solidFill>
          <a:ln w="12700">
            <a:solidFill>
              <a:srgbClr val="1C7293"/>
            </a:solidFill>
            <a:prstDash val="solid"/>
          </a:ln>
        </p:spPr>
      </p:sp>
      <p:sp>
        <p:nvSpPr>
          <p:cNvPr id="15" name="Text 13"/>
          <p:cNvSpPr/>
          <p:nvPr/>
        </p:nvSpPr>
        <p:spPr>
          <a:xfrm>
            <a:off x="822960" y="361188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Discover read length distribution + base composition</a:t>
            </a:r>
            <a:endParaRPr lang="en-US" sz="1100" dirty="0"/>
          </a:p>
        </p:txBody>
      </p:sp>
      <p:sp>
        <p:nvSpPr>
          <p:cNvPr id="16" name="Text 14"/>
          <p:cNvSpPr/>
          <p:nvPr/>
        </p:nvSpPr>
        <p:spPr>
          <a:xfrm>
            <a:off x="822960" y="379476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(used by Tier-3 diagnostics)</a:t>
            </a:r>
            <a:endParaRPr lang="en-US" sz="900" dirty="0"/>
          </a:p>
        </p:txBody>
      </p:sp>
      <p:sp>
        <p:nvSpPr>
          <p:cNvPr id="17" name="Text 15"/>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3/15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DETECTOR A</a:t>
            </a:r>
            <a:endParaRPr lang="en-US" sz="1000" dirty="0"/>
          </a:p>
        </p:txBody>
      </p:sp>
      <p:sp>
        <p:nvSpPr>
          <p:cNvPr id="4" name="Shape 2"/>
          <p:cNvSpPr/>
          <p:nvPr/>
        </p:nvSpPr>
        <p:spPr>
          <a:xfrm>
            <a:off x="411480" y="1051560"/>
            <a:ext cx="868680" cy="868680"/>
          </a:xfrm>
          <a:prstGeom prst="ellipse">
            <a:avLst/>
          </a:prstGeom>
          <a:solidFill>
            <a:srgbClr val="1C7293"/>
          </a:solidFill>
          <a:ln w="12700">
            <a:solidFill>
              <a:srgbClr val="1C7293"/>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411480" y="105156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6" name="Text 4"/>
          <p:cNvSpPr/>
          <p:nvPr/>
        </p:nvSpPr>
        <p:spPr>
          <a:xfrm>
            <a:off x="1417320" y="1051560"/>
            <a:ext cx="73152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IUPAC database matcher.</a:t>
            </a:r>
            <a:endParaRPr lang="en-US" sz="2800" dirty="0"/>
          </a:p>
        </p:txBody>
      </p:sp>
      <p:sp>
        <p:nvSpPr>
          <p:cNvPr id="7" name="Text 5"/>
          <p:cNvSpPr/>
          <p:nvPr/>
        </p:nvSpPr>
        <p:spPr>
          <a:xfrm>
            <a:off x="1417320" y="1783080"/>
            <a:ext cx="7315200" cy="8229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Look it up in the catalogue. ~35 published 16S primers (515F, 806R, 27F, 1492R, …) scanned across three orientations.</a:t>
            </a:r>
            <a:endParaRPr lang="en-US" sz="1300" dirty="0"/>
          </a:p>
        </p:txBody>
      </p:sp>
      <p:sp>
        <p:nvSpPr>
          <p:cNvPr id="8" name="Shape 6"/>
          <p:cNvSpPr/>
          <p:nvPr/>
        </p:nvSpPr>
        <p:spPr>
          <a:xfrm>
            <a:off x="548640" y="2724912"/>
            <a:ext cx="164592" cy="164592"/>
          </a:xfrm>
          <a:prstGeom prst="ellipse">
            <a:avLst/>
          </a:prstGeom>
          <a:solidFill>
            <a:srgbClr val="1C7293"/>
          </a:solidFill>
          <a:ln w="12700">
            <a:solidFill>
              <a:srgbClr val="1C7293"/>
            </a:solidFill>
            <a:prstDash val="solid"/>
          </a:ln>
        </p:spPr>
      </p:sp>
      <p:sp>
        <p:nvSpPr>
          <p:cNvPr id="9" name="Text 7"/>
          <p:cNvSpPr/>
          <p:nvPr/>
        </p:nvSpPr>
        <p:spPr>
          <a:xfrm>
            <a:off x="822960" y="2651760"/>
            <a:ext cx="502920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Three orientations: DIRECT, REVERSE-COMPLEMENT, SWAP</a:t>
            </a:r>
            <a:endParaRPr lang="en-US" sz="1100" dirty="0"/>
          </a:p>
        </p:txBody>
      </p:sp>
      <p:sp>
        <p:nvSpPr>
          <p:cNvPr id="10" name="Text 8"/>
          <p:cNvSpPr/>
          <p:nvPr/>
        </p:nvSpPr>
        <p:spPr>
          <a:xfrm>
            <a:off x="822960" y="2834640"/>
            <a:ext cx="50292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(catches mis-labelled R1/R2)</a:t>
            </a:r>
            <a:endParaRPr lang="en-US" sz="900" dirty="0"/>
          </a:p>
        </p:txBody>
      </p:sp>
      <p:sp>
        <p:nvSpPr>
          <p:cNvPr id="11" name="Shape 9"/>
          <p:cNvSpPr/>
          <p:nvPr/>
        </p:nvSpPr>
        <p:spPr>
          <a:xfrm>
            <a:off x="548640" y="3227832"/>
            <a:ext cx="164592" cy="164592"/>
          </a:xfrm>
          <a:prstGeom prst="ellipse">
            <a:avLst/>
          </a:prstGeom>
          <a:solidFill>
            <a:srgbClr val="1C7293"/>
          </a:solidFill>
          <a:ln w="12700">
            <a:solidFill>
              <a:srgbClr val="1C7293"/>
            </a:solidFill>
            <a:prstDash val="solid"/>
          </a:ln>
        </p:spPr>
      </p:sp>
      <p:sp>
        <p:nvSpPr>
          <p:cNvPr id="12" name="Text 10"/>
          <p:cNvSpPr/>
          <p:nvPr/>
        </p:nvSpPr>
        <p:spPr>
          <a:xfrm>
            <a:off x="822960" y="3154680"/>
            <a:ext cx="502920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IUPAC-aware comparison (Y matches C/T, N matches anything)</a:t>
            </a:r>
            <a:endParaRPr lang="en-US" sz="1100" dirty="0"/>
          </a:p>
        </p:txBody>
      </p:sp>
      <p:sp>
        <p:nvSpPr>
          <p:cNvPr id="13" name="Text 11"/>
          <p:cNvSpPr/>
          <p:nvPr/>
        </p:nvSpPr>
        <p:spPr>
          <a:xfrm>
            <a:off x="822960" y="3337560"/>
            <a:ext cx="50292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(tolerates up to 3 mismatches)</a:t>
            </a:r>
            <a:endParaRPr lang="en-US" sz="900" dirty="0"/>
          </a:p>
        </p:txBody>
      </p:sp>
      <p:sp>
        <p:nvSpPr>
          <p:cNvPr id="14" name="Shape 12"/>
          <p:cNvSpPr/>
          <p:nvPr/>
        </p:nvSpPr>
        <p:spPr>
          <a:xfrm>
            <a:off x="548640" y="3730752"/>
            <a:ext cx="164592" cy="164592"/>
          </a:xfrm>
          <a:prstGeom prst="ellipse">
            <a:avLst/>
          </a:prstGeom>
          <a:solidFill>
            <a:srgbClr val="1C7293"/>
          </a:solidFill>
          <a:ln w="12700">
            <a:solidFill>
              <a:srgbClr val="1C7293"/>
            </a:solidFill>
            <a:prstDash val="solid"/>
          </a:ln>
        </p:spPr>
      </p:sp>
      <p:sp>
        <p:nvSpPr>
          <p:cNvPr id="15" name="Text 13"/>
          <p:cNvSpPr/>
          <p:nvPr/>
        </p:nvSpPr>
        <p:spPr>
          <a:xfrm>
            <a:off x="822960" y="3657600"/>
            <a:ext cx="502920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Falls back to TIER 2 (V-region anchor) if no DB hit</a:t>
            </a:r>
            <a:endParaRPr lang="en-US" sz="1100" dirty="0"/>
          </a:p>
        </p:txBody>
      </p:sp>
      <p:sp>
        <p:nvSpPr>
          <p:cNvPr id="16" name="Text 14"/>
          <p:cNvSpPr/>
          <p:nvPr/>
        </p:nvSpPr>
        <p:spPr>
          <a:xfrm>
            <a:off x="822960" y="3840480"/>
            <a:ext cx="50292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(recognises WHERE on the rRNA we are even when primer is gone)</a:t>
            </a:r>
            <a:endParaRPr lang="en-US" sz="900" dirty="0"/>
          </a:p>
        </p:txBody>
      </p:sp>
      <p:sp>
        <p:nvSpPr>
          <p:cNvPr id="17" name="Shape 15"/>
          <p:cNvSpPr/>
          <p:nvPr/>
        </p:nvSpPr>
        <p:spPr>
          <a:xfrm>
            <a:off x="5852160" y="2743200"/>
            <a:ext cx="2880360" cy="1965960"/>
          </a:xfrm>
          <a:prstGeom prst="rect">
            <a:avLst/>
          </a:prstGeom>
          <a:solidFill>
            <a:srgbClr val="EAF2F8"/>
          </a:solidFill>
          <a:ln w="12700">
            <a:solidFill>
              <a:srgbClr val="065A82"/>
            </a:solidFill>
            <a:prstDash val="solid"/>
          </a:ln>
          <a:effectLst>
            <a:outerShdw sx="100000" sy="100000" kx="0" ky="0" algn="bl" rotWithShape="0" blurRad="101600" dist="25400" dir="5400000">
              <a:srgbClr val="000000">
                <a:alpha val="12000"/>
              </a:srgbClr>
            </a:outerShdw>
          </a:effectLst>
        </p:spPr>
      </p:sp>
      <p:sp>
        <p:nvSpPr>
          <p:cNvPr id="18" name="Text 16"/>
          <p:cNvSpPr/>
          <p:nvPr/>
        </p:nvSpPr>
        <p:spPr>
          <a:xfrm>
            <a:off x="5989320" y="2834640"/>
            <a:ext cx="2651760" cy="274320"/>
          </a:xfrm>
          <a:prstGeom prst="rect">
            <a:avLst/>
          </a:prstGeom>
          <a:noFill/>
          <a:ln/>
        </p:spPr>
        <p:txBody>
          <a:bodyPr wrap="square" rtlCol="0" anchor="ctr"/>
          <a:lstStyle/>
          <a:p>
            <a:pPr indent="0" marL="0">
              <a:buNone/>
            </a:pPr>
            <a:r>
              <a:rPr lang="en-US" sz="1100" b="1" spc="200" kern="0" dirty="0">
                <a:solidFill>
                  <a:srgbClr val="065A82"/>
                </a:solidFill>
                <a:latin typeface="Calibri" pitchFamily="34" charset="0"/>
                <a:ea typeface="Calibri" pitchFamily="34" charset="-122"/>
                <a:cs typeface="Calibri" pitchFamily="34" charset="-120"/>
              </a:rPr>
              <a:t>Catalogue size</a:t>
            </a:r>
            <a:endParaRPr lang="en-US" sz="1100" dirty="0"/>
          </a:p>
        </p:txBody>
      </p:sp>
      <p:sp>
        <p:nvSpPr>
          <p:cNvPr id="19" name="Text 17"/>
          <p:cNvSpPr/>
          <p:nvPr/>
        </p:nvSpPr>
        <p:spPr>
          <a:xfrm>
            <a:off x="5989320" y="3154680"/>
            <a:ext cx="2651760" cy="1508760"/>
          </a:xfrm>
          <a:prstGeom prst="rect">
            <a:avLst/>
          </a:prstGeom>
          <a:noFill/>
          <a:ln/>
        </p:spPr>
        <p:txBody>
          <a:bodyPr wrap="square" rtlCol="0" anchor="t"/>
          <a:lstStyle/>
          <a:p>
            <a:pPr indent="0" marL="0">
              <a:buNone/>
            </a:pPr>
            <a:r>
              <a:rPr lang="en-US" sz="1000" dirty="0">
                <a:solidFill>
                  <a:srgbClr val="1E293B"/>
                </a:solidFill>
                <a:latin typeface="Calibri" pitchFamily="34" charset="0"/>
                <a:ea typeface="Calibri" pitchFamily="34" charset="-122"/>
                <a:cs typeface="Calibri" pitchFamily="34" charset="-120"/>
              </a:rPr>
              <a:t>≈ 35 curated 16S primers spanning V1..V9.</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Not for ITS or 18S — those use the manual --forward-primer fast-path.</a:t>
            </a:r>
            <a:endParaRPr lang="en-US" sz="1000" dirty="0"/>
          </a:p>
        </p:txBody>
      </p:sp>
      <p:sp>
        <p:nvSpPr>
          <p:cNvPr id="20" name="Text 18"/>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4/15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DETECTOR B</a:t>
            </a:r>
            <a:endParaRPr lang="en-US" sz="1000" dirty="0"/>
          </a:p>
        </p:txBody>
      </p:sp>
      <p:sp>
        <p:nvSpPr>
          <p:cNvPr id="4" name="Shape 2"/>
          <p:cNvSpPr/>
          <p:nvPr/>
        </p:nvSpPr>
        <p:spPr>
          <a:xfrm>
            <a:off x="411480" y="1051560"/>
            <a:ext cx="868680" cy="868680"/>
          </a:xfrm>
          <a:prstGeom prst="ellipse">
            <a:avLst/>
          </a:prstGeom>
          <a:solidFill>
            <a:srgbClr val="1C7293"/>
          </a:solidFill>
          <a:ln w="12700">
            <a:solidFill>
              <a:srgbClr val="1C7293"/>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411480" y="105156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6" name="Text 4"/>
          <p:cNvSpPr/>
          <p:nvPr/>
        </p:nvSpPr>
        <p:spPr>
          <a:xfrm>
            <a:off x="1417320" y="1051560"/>
            <a:ext cx="73152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Position-0 k-mer enrichment.</a:t>
            </a:r>
            <a:endParaRPr lang="en-US" sz="2800" dirty="0"/>
          </a:p>
        </p:txBody>
      </p:sp>
      <p:sp>
        <p:nvSpPr>
          <p:cNvPr id="7" name="Text 5"/>
          <p:cNvSpPr/>
          <p:nvPr/>
        </p:nvSpPr>
        <p:spPr>
          <a:xfrm>
            <a:off x="1417320" y="1783080"/>
            <a:ext cx="7315200" cy="8229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Database-free de-novo discovery. If a primer is present, the same short sub-sequence shows up at position 0 of every read.</a:t>
            </a:r>
            <a:endParaRPr lang="en-US" sz="1300" dirty="0"/>
          </a:p>
        </p:txBody>
      </p:sp>
      <p:sp>
        <p:nvSpPr>
          <p:cNvPr id="8" name="Shape 6"/>
          <p:cNvSpPr/>
          <p:nvPr/>
        </p:nvSpPr>
        <p:spPr>
          <a:xfrm>
            <a:off x="548640" y="2679192"/>
            <a:ext cx="164592" cy="164592"/>
          </a:xfrm>
          <a:prstGeom prst="ellipse">
            <a:avLst/>
          </a:prstGeom>
          <a:solidFill>
            <a:srgbClr val="1C7293"/>
          </a:solidFill>
          <a:ln w="12700">
            <a:solidFill>
              <a:srgbClr val="1C7293"/>
            </a:solidFill>
            <a:prstDash val="solid"/>
          </a:ln>
        </p:spPr>
      </p:sp>
      <p:sp>
        <p:nvSpPr>
          <p:cNvPr id="9" name="Text 7"/>
          <p:cNvSpPr/>
          <p:nvPr/>
        </p:nvSpPr>
        <p:spPr>
          <a:xfrm>
            <a:off x="822960" y="260604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k ∈ {15, 17, 19, 21, 23, 25}</a:t>
            </a:r>
            <a:endParaRPr lang="en-US" sz="1100" dirty="0"/>
          </a:p>
        </p:txBody>
      </p:sp>
      <p:sp>
        <p:nvSpPr>
          <p:cNvPr id="10" name="Text 8"/>
          <p:cNvSpPr/>
          <p:nvPr/>
        </p:nvSpPr>
        <p:spPr>
          <a:xfrm>
            <a:off x="822960" y="278892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(covers every published primer length + cushion)</a:t>
            </a:r>
            <a:endParaRPr lang="en-US" sz="900" dirty="0"/>
          </a:p>
        </p:txBody>
      </p:sp>
      <p:sp>
        <p:nvSpPr>
          <p:cNvPr id="11" name="Shape 9"/>
          <p:cNvSpPr/>
          <p:nvPr/>
        </p:nvSpPr>
        <p:spPr>
          <a:xfrm>
            <a:off x="548640" y="3182112"/>
            <a:ext cx="164592" cy="164592"/>
          </a:xfrm>
          <a:prstGeom prst="ellipse">
            <a:avLst/>
          </a:prstGeom>
          <a:solidFill>
            <a:srgbClr val="1C7293"/>
          </a:solidFill>
          <a:ln w="12700">
            <a:solidFill>
              <a:srgbClr val="1C7293"/>
            </a:solidFill>
            <a:prstDash val="solid"/>
          </a:ln>
        </p:spPr>
      </p:sp>
      <p:sp>
        <p:nvSpPr>
          <p:cNvPr id="12" name="Text 10"/>
          <p:cNvSpPr/>
          <p:nvPr/>
        </p:nvSpPr>
        <p:spPr>
          <a:xfrm>
            <a:off x="822960" y="310896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Compare position-0 frequency to background</a:t>
            </a:r>
            <a:endParaRPr lang="en-US" sz="1100" dirty="0"/>
          </a:p>
        </p:txBody>
      </p:sp>
      <p:sp>
        <p:nvSpPr>
          <p:cNvPr id="13" name="Text 11"/>
          <p:cNvSpPr/>
          <p:nvPr/>
        </p:nvSpPr>
        <p:spPr>
          <a:xfrm>
            <a:off x="822960" y="329184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(fold-enrichment ≥ 10× = candidate)</a:t>
            </a:r>
            <a:endParaRPr lang="en-US" sz="900" dirty="0"/>
          </a:p>
        </p:txBody>
      </p:sp>
      <p:sp>
        <p:nvSpPr>
          <p:cNvPr id="14" name="Shape 12"/>
          <p:cNvSpPr/>
          <p:nvPr/>
        </p:nvSpPr>
        <p:spPr>
          <a:xfrm>
            <a:off x="548640" y="3685032"/>
            <a:ext cx="164592" cy="164592"/>
          </a:xfrm>
          <a:prstGeom prst="ellipse">
            <a:avLst/>
          </a:prstGeom>
          <a:solidFill>
            <a:srgbClr val="1C7293"/>
          </a:solidFill>
          <a:ln w="12700">
            <a:solidFill>
              <a:srgbClr val="1C7293"/>
            </a:solidFill>
            <a:prstDash val="solid"/>
          </a:ln>
        </p:spPr>
      </p:sp>
      <p:sp>
        <p:nvSpPr>
          <p:cNvPr id="15" name="Text 13"/>
          <p:cNvSpPr/>
          <p:nvPr/>
        </p:nvSpPr>
        <p:spPr>
          <a:xfrm>
            <a:off x="822960" y="361188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Multiple k-lengths agreeing on overlapping anchors = strong de-novo discovery</a:t>
            </a:r>
            <a:endParaRPr lang="en-US" sz="1100" dirty="0"/>
          </a:p>
        </p:txBody>
      </p:sp>
      <p:sp>
        <p:nvSpPr>
          <p:cNvPr id="16" name="Text 14"/>
          <p:cNvSpPr/>
          <p:nvPr/>
        </p:nvSpPr>
        <p:spPr>
          <a:xfrm>
            <a:off x="822960" y="379476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(this is what catches custom-lab primers)</a:t>
            </a:r>
            <a:endParaRPr lang="en-US" sz="900" dirty="0"/>
          </a:p>
        </p:txBody>
      </p:sp>
      <p:sp>
        <p:nvSpPr>
          <p:cNvPr id="17" name="Text 15"/>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5/15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DETECTOR C</a:t>
            </a:r>
            <a:endParaRPr lang="en-US" sz="1000" dirty="0"/>
          </a:p>
        </p:txBody>
      </p:sp>
      <p:sp>
        <p:nvSpPr>
          <p:cNvPr id="4" name="Shape 2"/>
          <p:cNvSpPr/>
          <p:nvPr/>
        </p:nvSpPr>
        <p:spPr>
          <a:xfrm>
            <a:off x="411480" y="1051560"/>
            <a:ext cx="868680" cy="868680"/>
          </a:xfrm>
          <a:prstGeom prst="ellipse">
            <a:avLst/>
          </a:prstGeom>
          <a:solidFill>
            <a:srgbClr val="1C7293"/>
          </a:solidFill>
          <a:ln w="12700">
            <a:solidFill>
              <a:srgbClr val="1C7293"/>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411480" y="105156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4</a:t>
            </a:r>
            <a:endParaRPr lang="en-US" sz="3200" dirty="0"/>
          </a:p>
        </p:txBody>
      </p:sp>
      <p:sp>
        <p:nvSpPr>
          <p:cNvPr id="6" name="Text 4"/>
          <p:cNvSpPr/>
          <p:nvPr/>
        </p:nvSpPr>
        <p:spPr>
          <a:xfrm>
            <a:off x="1417320" y="1051560"/>
            <a:ext cx="73152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Inline FastQC-equivalent signals.</a:t>
            </a:r>
            <a:endParaRPr lang="en-US" sz="2800" dirty="0"/>
          </a:p>
        </p:txBody>
      </p:sp>
      <p:sp>
        <p:nvSpPr>
          <p:cNvPr id="7" name="Text 5"/>
          <p:cNvSpPr/>
          <p:nvPr/>
        </p:nvSpPr>
        <p:spPr>
          <a:xfrm>
            <a:off x="1417320" y="1783080"/>
            <a:ext cx="7315200" cy="8229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Three orthogonal signals computed inline, so we don't need Java or FastQC installed.</a:t>
            </a:r>
            <a:endParaRPr lang="en-US" sz="1300" dirty="0"/>
          </a:p>
        </p:txBody>
      </p:sp>
      <p:sp>
        <p:nvSpPr>
          <p:cNvPr id="8" name="Shape 6"/>
          <p:cNvSpPr/>
          <p:nvPr/>
        </p:nvSpPr>
        <p:spPr>
          <a:xfrm>
            <a:off x="548640" y="2679192"/>
            <a:ext cx="164592" cy="164592"/>
          </a:xfrm>
          <a:prstGeom prst="ellipse">
            <a:avLst/>
          </a:prstGeom>
          <a:solidFill>
            <a:srgbClr val="1C7293"/>
          </a:solidFill>
          <a:ln w="12700">
            <a:solidFill>
              <a:srgbClr val="1C7293"/>
            </a:solidFill>
            <a:prstDash val="solid"/>
          </a:ln>
        </p:spPr>
      </p:sp>
      <p:sp>
        <p:nvSpPr>
          <p:cNvPr id="9" name="Text 7"/>
          <p:cNvSpPr/>
          <p:nvPr/>
        </p:nvSpPr>
        <p:spPr>
          <a:xfrm>
            <a:off x="822960" y="260604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Per-base sequence-content entropy (positions 1..30)</a:t>
            </a:r>
            <a:endParaRPr lang="en-US" sz="1100" dirty="0"/>
          </a:p>
        </p:txBody>
      </p:sp>
      <p:sp>
        <p:nvSpPr>
          <p:cNvPr id="10" name="Text 8"/>
          <p:cNvSpPr/>
          <p:nvPr/>
        </p:nvSpPr>
        <p:spPr>
          <a:xfrm>
            <a:off x="822960" y="278892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(primers show up as a flat low-entropy stripe)</a:t>
            </a:r>
            <a:endParaRPr lang="en-US" sz="900" dirty="0"/>
          </a:p>
        </p:txBody>
      </p:sp>
      <p:sp>
        <p:nvSpPr>
          <p:cNvPr id="11" name="Shape 9"/>
          <p:cNvSpPr/>
          <p:nvPr/>
        </p:nvSpPr>
        <p:spPr>
          <a:xfrm>
            <a:off x="548640" y="3182112"/>
            <a:ext cx="164592" cy="164592"/>
          </a:xfrm>
          <a:prstGeom prst="ellipse">
            <a:avLst/>
          </a:prstGeom>
          <a:solidFill>
            <a:srgbClr val="1C7293"/>
          </a:solidFill>
          <a:ln w="12700">
            <a:solidFill>
              <a:srgbClr val="1C7293"/>
            </a:solidFill>
            <a:prstDash val="solid"/>
          </a:ln>
        </p:spPr>
      </p:sp>
      <p:sp>
        <p:nvSpPr>
          <p:cNvPr id="12" name="Text 10"/>
          <p:cNvSpPr/>
          <p:nvPr/>
        </p:nvSpPr>
        <p:spPr>
          <a:xfrm>
            <a:off x="822960" y="310896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Overrepresented 5′-anchored prefixes</a:t>
            </a:r>
            <a:endParaRPr lang="en-US" sz="1100" dirty="0"/>
          </a:p>
        </p:txBody>
      </p:sp>
      <p:sp>
        <p:nvSpPr>
          <p:cNvPr id="13" name="Text 11"/>
          <p:cNvSpPr/>
          <p:nvPr/>
        </p:nvSpPr>
        <p:spPr>
          <a:xfrm>
            <a:off x="822960" y="329184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(top-N most-frequent prefixes ≈ primer + index)</a:t>
            </a:r>
            <a:endParaRPr lang="en-US" sz="900" dirty="0"/>
          </a:p>
        </p:txBody>
      </p:sp>
      <p:sp>
        <p:nvSpPr>
          <p:cNvPr id="14" name="Shape 12"/>
          <p:cNvSpPr/>
          <p:nvPr/>
        </p:nvSpPr>
        <p:spPr>
          <a:xfrm>
            <a:off x="548640" y="3685032"/>
            <a:ext cx="164592" cy="164592"/>
          </a:xfrm>
          <a:prstGeom prst="ellipse">
            <a:avLst/>
          </a:prstGeom>
          <a:solidFill>
            <a:srgbClr val="1C7293"/>
          </a:solidFill>
          <a:ln w="12700">
            <a:solidFill>
              <a:srgbClr val="1C7293"/>
            </a:solidFill>
            <a:prstDash val="solid"/>
          </a:ln>
        </p:spPr>
      </p:sp>
      <p:sp>
        <p:nvSpPr>
          <p:cNvPr id="15" name="Text 13"/>
          <p:cNvSpPr/>
          <p:nvPr/>
        </p:nvSpPr>
        <p:spPr>
          <a:xfrm>
            <a:off x="822960" y="361188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Illumina adapter content (Nextera / TruSeq)</a:t>
            </a:r>
            <a:endParaRPr lang="en-US" sz="1100" dirty="0"/>
          </a:p>
        </p:txBody>
      </p:sp>
      <p:sp>
        <p:nvSpPr>
          <p:cNvPr id="16" name="Text 14"/>
          <p:cNvSpPr/>
          <p:nvPr/>
        </p:nvSpPr>
        <p:spPr>
          <a:xfrm>
            <a:off x="822960" y="379476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(read-through diagnostics — short amplicons leak adapter)</a:t>
            </a:r>
            <a:endParaRPr lang="en-US" sz="900" dirty="0"/>
          </a:p>
        </p:txBody>
      </p:sp>
      <p:sp>
        <p:nvSpPr>
          <p:cNvPr id="17" name="Text 15"/>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6/15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DETECTOR D — OPTIONAL</a:t>
            </a:r>
            <a:endParaRPr lang="en-US" sz="1000" dirty="0"/>
          </a:p>
        </p:txBody>
      </p:sp>
      <p:sp>
        <p:nvSpPr>
          <p:cNvPr id="4" name="Shape 2"/>
          <p:cNvSpPr/>
          <p:nvPr/>
        </p:nvSpPr>
        <p:spPr>
          <a:xfrm>
            <a:off x="411480" y="1051560"/>
            <a:ext cx="868680" cy="868680"/>
          </a:xfrm>
          <a:prstGeom prst="ellipse">
            <a:avLst/>
          </a:prstGeom>
          <a:solidFill>
            <a:srgbClr val="1C7293"/>
          </a:solidFill>
          <a:ln w="12700">
            <a:solidFill>
              <a:srgbClr val="1C7293"/>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411480" y="105156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5</a:t>
            </a:r>
            <a:endParaRPr lang="en-US" sz="3200" dirty="0"/>
          </a:p>
        </p:txBody>
      </p:sp>
      <p:sp>
        <p:nvSpPr>
          <p:cNvPr id="6" name="Text 4"/>
          <p:cNvSpPr/>
          <p:nvPr/>
        </p:nvSpPr>
        <p:spPr>
          <a:xfrm>
            <a:off x="1417320" y="1051560"/>
            <a:ext cx="73152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fastp PE-overlap detection.</a:t>
            </a:r>
            <a:endParaRPr lang="en-US" sz="2800" dirty="0"/>
          </a:p>
        </p:txBody>
      </p:sp>
      <p:sp>
        <p:nvSpPr>
          <p:cNvPr id="7" name="Text 5"/>
          <p:cNvSpPr/>
          <p:nvPr/>
        </p:nvSpPr>
        <p:spPr>
          <a:xfrm>
            <a:off x="1417320" y="1783080"/>
            <a:ext cx="7315200" cy="8229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If fastp is on PATH, run --detect_adapter_for_pe. It solves the same problem from a different direction: infer what each read has that the other doesn't.</a:t>
            </a:r>
            <a:endParaRPr lang="en-US" sz="1300" dirty="0"/>
          </a:p>
        </p:txBody>
      </p:sp>
      <p:sp>
        <p:nvSpPr>
          <p:cNvPr id="8" name="Shape 6"/>
          <p:cNvSpPr/>
          <p:nvPr/>
        </p:nvSpPr>
        <p:spPr>
          <a:xfrm>
            <a:off x="548640" y="2679192"/>
            <a:ext cx="164592" cy="164592"/>
          </a:xfrm>
          <a:prstGeom prst="ellipse">
            <a:avLst/>
          </a:prstGeom>
          <a:solidFill>
            <a:srgbClr val="1C7293"/>
          </a:solidFill>
          <a:ln w="12700">
            <a:solidFill>
              <a:srgbClr val="1C7293"/>
            </a:solidFill>
            <a:prstDash val="solid"/>
          </a:ln>
        </p:spPr>
      </p:sp>
      <p:sp>
        <p:nvSpPr>
          <p:cNvPr id="9" name="Text 7"/>
          <p:cNvSpPr/>
          <p:nvPr/>
        </p:nvSpPr>
        <p:spPr>
          <a:xfrm>
            <a:off x="822960" y="260604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Gracefully skipped if fastp is missing</a:t>
            </a:r>
            <a:endParaRPr lang="en-US" sz="1100" dirty="0"/>
          </a:p>
        </p:txBody>
      </p:sp>
      <p:sp>
        <p:nvSpPr>
          <p:cNvPr id="10" name="Text 8"/>
          <p:cNvSpPr/>
          <p:nvPr/>
        </p:nvSpPr>
        <p:spPr>
          <a:xfrm>
            <a:off x="822960" y="278892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(--no-fastp also works)</a:t>
            </a:r>
            <a:endParaRPr lang="en-US" sz="900" dirty="0"/>
          </a:p>
        </p:txBody>
      </p:sp>
      <p:sp>
        <p:nvSpPr>
          <p:cNvPr id="11" name="Shape 9"/>
          <p:cNvSpPr/>
          <p:nvPr/>
        </p:nvSpPr>
        <p:spPr>
          <a:xfrm>
            <a:off x="548640" y="3182112"/>
            <a:ext cx="164592" cy="164592"/>
          </a:xfrm>
          <a:prstGeom prst="ellipse">
            <a:avLst/>
          </a:prstGeom>
          <a:solidFill>
            <a:srgbClr val="1C7293"/>
          </a:solidFill>
          <a:ln w="12700">
            <a:solidFill>
              <a:srgbClr val="1C7293"/>
            </a:solidFill>
            <a:prstDash val="solid"/>
          </a:ln>
        </p:spPr>
      </p:sp>
      <p:sp>
        <p:nvSpPr>
          <p:cNvPr id="12" name="Text 10"/>
          <p:cNvSpPr/>
          <p:nvPr/>
        </p:nvSpPr>
        <p:spPr>
          <a:xfrm>
            <a:off x="822960" y="310896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Reported as 'Detector D: not available' if so</a:t>
            </a:r>
            <a:endParaRPr lang="en-US" sz="1100" dirty="0"/>
          </a:p>
        </p:txBody>
      </p:sp>
      <p:sp>
        <p:nvSpPr>
          <p:cNvPr id="13" name="Text 11"/>
          <p:cNvSpPr/>
          <p:nvPr/>
        </p:nvSpPr>
        <p:spPr>
          <a:xfrm>
            <a:off x="822960" y="329184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(no silent gap)</a:t>
            </a:r>
            <a:endParaRPr lang="en-US" sz="900" dirty="0"/>
          </a:p>
        </p:txBody>
      </p:sp>
      <p:sp>
        <p:nvSpPr>
          <p:cNvPr id="14" name="Shape 12"/>
          <p:cNvSpPr/>
          <p:nvPr/>
        </p:nvSpPr>
        <p:spPr>
          <a:xfrm>
            <a:off x="548640" y="3685032"/>
            <a:ext cx="164592" cy="164592"/>
          </a:xfrm>
          <a:prstGeom prst="ellipse">
            <a:avLst/>
          </a:prstGeom>
          <a:solidFill>
            <a:srgbClr val="1C7293"/>
          </a:solidFill>
          <a:ln w="12700">
            <a:solidFill>
              <a:srgbClr val="1C7293"/>
            </a:solidFill>
            <a:prstDash val="solid"/>
          </a:ln>
        </p:spPr>
      </p:sp>
      <p:sp>
        <p:nvSpPr>
          <p:cNvPr id="15" name="Text 13"/>
          <p:cNvSpPr/>
          <p:nvPr/>
        </p:nvSpPr>
        <p:spPr>
          <a:xfrm>
            <a:off x="822960" y="361188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The other three detectors + cutadapt still deliver a verdict</a:t>
            </a:r>
            <a:endParaRPr lang="en-US" sz="1100" dirty="0"/>
          </a:p>
        </p:txBody>
      </p:sp>
      <p:sp>
        <p:nvSpPr>
          <p:cNvPr id="16" name="Text 14"/>
          <p:cNvSpPr/>
          <p:nvPr/>
        </p:nvSpPr>
        <p:spPr>
          <a:xfrm>
            <a:off x="822960" y="379476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(D is corroboration, not load-bearing)</a:t>
            </a:r>
            <a:endParaRPr lang="en-US" sz="900" dirty="0"/>
          </a:p>
        </p:txBody>
      </p:sp>
      <p:sp>
        <p:nvSpPr>
          <p:cNvPr id="17" name="Text 15"/>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7/15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AGGREGATION</a:t>
            </a:r>
            <a:endParaRPr lang="en-US" sz="1000" dirty="0"/>
          </a:p>
        </p:txBody>
      </p:sp>
      <p:sp>
        <p:nvSpPr>
          <p:cNvPr id="4" name="Shape 2"/>
          <p:cNvSpPr/>
          <p:nvPr/>
        </p:nvSpPr>
        <p:spPr>
          <a:xfrm>
            <a:off x="411480" y="1051560"/>
            <a:ext cx="868680" cy="868680"/>
          </a:xfrm>
          <a:prstGeom prst="ellipse">
            <a:avLst/>
          </a:prstGeom>
          <a:solidFill>
            <a:srgbClr val="1C7293"/>
          </a:solidFill>
          <a:ln w="12700">
            <a:solidFill>
              <a:srgbClr val="1C7293"/>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411480" y="105156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6</a:t>
            </a:r>
            <a:endParaRPr lang="en-US" sz="3200" dirty="0"/>
          </a:p>
        </p:txBody>
      </p:sp>
      <p:sp>
        <p:nvSpPr>
          <p:cNvPr id="6" name="Text 4"/>
          <p:cNvSpPr/>
          <p:nvPr/>
        </p:nvSpPr>
        <p:spPr>
          <a:xfrm>
            <a:off x="1417320" y="1051560"/>
            <a:ext cx="73152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Collapse candidates IUPAC-aware.</a:t>
            </a:r>
            <a:endParaRPr lang="en-US" sz="2800" dirty="0"/>
          </a:p>
        </p:txBody>
      </p:sp>
      <p:sp>
        <p:nvSpPr>
          <p:cNvPr id="7" name="Text 5"/>
          <p:cNvSpPr/>
          <p:nvPr/>
        </p:nvSpPr>
        <p:spPr>
          <a:xfrm>
            <a:off x="1417320" y="1783080"/>
            <a:ext cx="7315200" cy="8229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Detections that differ only in degenerate codes (Y vs C/T) are treated as the same primer. We keep the top 3 candidates per orientation for validation.</a:t>
            </a:r>
            <a:endParaRPr lang="en-US" sz="1300" dirty="0"/>
          </a:p>
        </p:txBody>
      </p:sp>
      <p:sp>
        <p:nvSpPr>
          <p:cNvPr id="8" name="Shape 6"/>
          <p:cNvSpPr/>
          <p:nvPr/>
        </p:nvSpPr>
        <p:spPr>
          <a:xfrm>
            <a:off x="548640" y="2679192"/>
            <a:ext cx="164592" cy="164592"/>
          </a:xfrm>
          <a:prstGeom prst="ellipse">
            <a:avLst/>
          </a:prstGeom>
          <a:solidFill>
            <a:srgbClr val="1C7293"/>
          </a:solidFill>
          <a:ln w="12700">
            <a:solidFill>
              <a:srgbClr val="1C7293"/>
            </a:solidFill>
            <a:prstDash val="solid"/>
          </a:ln>
        </p:spPr>
      </p:sp>
      <p:sp>
        <p:nvSpPr>
          <p:cNvPr id="9" name="Text 7"/>
          <p:cNvSpPr/>
          <p:nvPr/>
        </p:nvSpPr>
        <p:spPr>
          <a:xfrm>
            <a:off x="822960" y="260604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Collapse near-duplicates so we don't double-count</a:t>
            </a:r>
            <a:endParaRPr lang="en-US" sz="1100" dirty="0"/>
          </a:p>
        </p:txBody>
      </p:sp>
      <p:sp>
        <p:nvSpPr>
          <p:cNvPr id="10" name="Text 8"/>
          <p:cNvSpPr/>
          <p:nvPr/>
        </p:nvSpPr>
        <p:spPr>
          <a:xfrm>
            <a:off x="822960" y="278892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(515F-Y and 515F-T-or-C → same primer)</a:t>
            </a:r>
            <a:endParaRPr lang="en-US" sz="900" dirty="0"/>
          </a:p>
        </p:txBody>
      </p:sp>
      <p:sp>
        <p:nvSpPr>
          <p:cNvPr id="11" name="Shape 9"/>
          <p:cNvSpPr/>
          <p:nvPr/>
        </p:nvSpPr>
        <p:spPr>
          <a:xfrm>
            <a:off x="548640" y="3182112"/>
            <a:ext cx="164592" cy="164592"/>
          </a:xfrm>
          <a:prstGeom prst="ellipse">
            <a:avLst/>
          </a:prstGeom>
          <a:solidFill>
            <a:srgbClr val="1C7293"/>
          </a:solidFill>
          <a:ln w="12700">
            <a:solidFill>
              <a:srgbClr val="1C7293"/>
            </a:solidFill>
            <a:prstDash val="solid"/>
          </a:ln>
        </p:spPr>
      </p:sp>
      <p:sp>
        <p:nvSpPr>
          <p:cNvPr id="12" name="Text 10"/>
          <p:cNvSpPr/>
          <p:nvPr/>
        </p:nvSpPr>
        <p:spPr>
          <a:xfrm>
            <a:off x="822960" y="310896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Top 3 candidates per orientation forwarded to Detector E</a:t>
            </a:r>
            <a:endParaRPr lang="en-US" sz="1100" dirty="0"/>
          </a:p>
        </p:txBody>
      </p:sp>
      <p:sp>
        <p:nvSpPr>
          <p:cNvPr id="13" name="Text 11"/>
          <p:cNvSpPr/>
          <p:nvPr/>
        </p:nvSpPr>
        <p:spPr>
          <a:xfrm>
            <a:off x="822960" y="329184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(--top-candidates; the empirical sweet spot)</a:t>
            </a:r>
            <a:endParaRPr lang="en-US" sz="900" dirty="0"/>
          </a:p>
        </p:txBody>
      </p:sp>
      <p:sp>
        <p:nvSpPr>
          <p:cNvPr id="14" name="Text 12"/>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8/15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DETECTOR E — THE TRUTH CHECK</a:t>
            </a:r>
            <a:endParaRPr lang="en-US" sz="1000" dirty="0"/>
          </a:p>
        </p:txBody>
      </p:sp>
      <p:sp>
        <p:nvSpPr>
          <p:cNvPr id="4" name="Shape 2"/>
          <p:cNvSpPr/>
          <p:nvPr/>
        </p:nvSpPr>
        <p:spPr>
          <a:xfrm>
            <a:off x="411480" y="1051560"/>
            <a:ext cx="868680" cy="868680"/>
          </a:xfrm>
          <a:prstGeom prst="ellipse">
            <a:avLst/>
          </a:prstGeom>
          <a:solidFill>
            <a:srgbClr val="1C7293"/>
          </a:solidFill>
          <a:ln w="12700">
            <a:solidFill>
              <a:srgbClr val="1C7293"/>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411480" y="105156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7</a:t>
            </a:r>
            <a:endParaRPr lang="en-US" sz="3200" dirty="0"/>
          </a:p>
        </p:txBody>
      </p:sp>
      <p:sp>
        <p:nvSpPr>
          <p:cNvPr id="6" name="Text 4"/>
          <p:cNvSpPr/>
          <p:nvPr/>
        </p:nvSpPr>
        <p:spPr>
          <a:xfrm>
            <a:off x="1417320" y="1051560"/>
            <a:ext cx="73152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Cutadapt validation (mandatory).</a:t>
            </a:r>
            <a:endParaRPr lang="en-US" sz="2800" dirty="0"/>
          </a:p>
        </p:txBody>
      </p:sp>
      <p:sp>
        <p:nvSpPr>
          <p:cNvPr id="7" name="Text 5"/>
          <p:cNvSpPr/>
          <p:nvPr/>
        </p:nvSpPr>
        <p:spPr>
          <a:xfrm>
            <a:off x="1417320" y="1783080"/>
            <a:ext cx="7315200" cy="8229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Every top candidate goes through cutadapt -e 0.15 against a sub-sample of the same reads. Cutadapt's trim rate is the ground truth.</a:t>
            </a:r>
            <a:endParaRPr lang="en-US" sz="1300" dirty="0"/>
          </a:p>
        </p:txBody>
      </p:sp>
      <p:sp>
        <p:nvSpPr>
          <p:cNvPr id="8" name="Shape 6"/>
          <p:cNvSpPr/>
          <p:nvPr/>
        </p:nvSpPr>
        <p:spPr>
          <a:xfrm>
            <a:off x="548640" y="2679192"/>
            <a:ext cx="164592" cy="164592"/>
          </a:xfrm>
          <a:prstGeom prst="ellipse">
            <a:avLst/>
          </a:prstGeom>
          <a:solidFill>
            <a:srgbClr val="1C7293"/>
          </a:solidFill>
          <a:ln w="12700">
            <a:solidFill>
              <a:srgbClr val="1C7293"/>
            </a:solidFill>
            <a:prstDash val="solid"/>
          </a:ln>
        </p:spPr>
      </p:sp>
      <p:sp>
        <p:nvSpPr>
          <p:cNvPr id="9" name="Text 7"/>
          <p:cNvSpPr/>
          <p:nvPr/>
        </p:nvSpPr>
        <p:spPr>
          <a:xfrm>
            <a:off x="822960" y="260604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Internal detectors propose; cutadapt disposes</a:t>
            </a:r>
            <a:endParaRPr lang="en-US" sz="1100" dirty="0"/>
          </a:p>
        </p:txBody>
      </p:sp>
      <p:sp>
        <p:nvSpPr>
          <p:cNvPr id="10" name="Text 8"/>
          <p:cNvSpPr/>
          <p:nvPr/>
        </p:nvSpPr>
        <p:spPr>
          <a:xfrm>
            <a:off x="822960" y="278892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(industry-standard primer-trimming tool)</a:t>
            </a:r>
            <a:endParaRPr lang="en-US" sz="900" dirty="0"/>
          </a:p>
        </p:txBody>
      </p:sp>
      <p:sp>
        <p:nvSpPr>
          <p:cNvPr id="11" name="Shape 9"/>
          <p:cNvSpPr/>
          <p:nvPr/>
        </p:nvSpPr>
        <p:spPr>
          <a:xfrm>
            <a:off x="548640" y="3182112"/>
            <a:ext cx="164592" cy="164592"/>
          </a:xfrm>
          <a:prstGeom prst="ellipse">
            <a:avLst/>
          </a:prstGeom>
          <a:solidFill>
            <a:srgbClr val="1C7293"/>
          </a:solidFill>
          <a:ln w="12700">
            <a:solidFill>
              <a:srgbClr val="1C7293"/>
            </a:solidFill>
            <a:prstDash val="solid"/>
          </a:ln>
        </p:spPr>
      </p:sp>
      <p:sp>
        <p:nvSpPr>
          <p:cNvPr id="12" name="Text 10"/>
          <p:cNvSpPr/>
          <p:nvPr/>
        </p:nvSpPr>
        <p:spPr>
          <a:xfrm>
            <a:off x="822960" y="310896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 'great candidate' that cutadapt trims off 8 % of reads = false positive</a:t>
            </a:r>
            <a:endParaRPr lang="en-US" sz="1100" dirty="0"/>
          </a:p>
        </p:txBody>
      </p:sp>
      <p:sp>
        <p:nvSpPr>
          <p:cNvPr id="13" name="Text 11"/>
          <p:cNvSpPr/>
          <p:nvPr/>
        </p:nvSpPr>
        <p:spPr>
          <a:xfrm>
            <a:off x="822960" y="329184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(throw it out, no matter who flagged it)</a:t>
            </a:r>
            <a:endParaRPr lang="en-US" sz="900" dirty="0"/>
          </a:p>
        </p:txBody>
      </p:sp>
      <p:sp>
        <p:nvSpPr>
          <p:cNvPr id="14" name="Shape 12"/>
          <p:cNvSpPr/>
          <p:nvPr/>
        </p:nvSpPr>
        <p:spPr>
          <a:xfrm>
            <a:off x="548640" y="3685032"/>
            <a:ext cx="164592" cy="164592"/>
          </a:xfrm>
          <a:prstGeom prst="ellipse">
            <a:avLst/>
          </a:prstGeom>
          <a:solidFill>
            <a:srgbClr val="1C7293"/>
          </a:solidFill>
          <a:ln w="12700">
            <a:solidFill>
              <a:srgbClr val="1C7293"/>
            </a:solidFill>
            <a:prstDash val="solid"/>
          </a:ln>
        </p:spPr>
      </p:sp>
      <p:sp>
        <p:nvSpPr>
          <p:cNvPr id="15" name="Text 13"/>
          <p:cNvSpPr/>
          <p:nvPr/>
        </p:nvSpPr>
        <p:spPr>
          <a:xfrm>
            <a:off x="822960" y="361188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An unflagged candidate that cutadapt trims off 85 % = real</a:t>
            </a:r>
            <a:endParaRPr lang="en-US" sz="1100" dirty="0"/>
          </a:p>
        </p:txBody>
      </p:sp>
      <p:sp>
        <p:nvSpPr>
          <p:cNvPr id="16" name="Text 14"/>
          <p:cNvSpPr/>
          <p:nvPr/>
        </p:nvSpPr>
        <p:spPr>
          <a:xfrm>
            <a:off x="822960" y="379476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(survive into the consensus)</a:t>
            </a:r>
            <a:endParaRPr lang="en-US" sz="900" dirty="0"/>
          </a:p>
        </p:txBody>
      </p:sp>
      <p:sp>
        <p:nvSpPr>
          <p:cNvPr id="17" name="Text 15"/>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9/15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CONSENSUS</a:t>
            </a:r>
            <a:endParaRPr lang="en-US" sz="1000" dirty="0"/>
          </a:p>
        </p:txBody>
      </p:sp>
      <p:sp>
        <p:nvSpPr>
          <p:cNvPr id="4" name="Shape 2"/>
          <p:cNvSpPr/>
          <p:nvPr/>
        </p:nvSpPr>
        <p:spPr>
          <a:xfrm>
            <a:off x="411480" y="1051560"/>
            <a:ext cx="868680" cy="868680"/>
          </a:xfrm>
          <a:prstGeom prst="ellipse">
            <a:avLst/>
          </a:prstGeom>
          <a:solidFill>
            <a:srgbClr val="1C7293"/>
          </a:solidFill>
          <a:ln w="12700">
            <a:solidFill>
              <a:srgbClr val="1C7293"/>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411480" y="1051560"/>
            <a:ext cx="868680" cy="8686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8</a:t>
            </a:r>
            <a:endParaRPr lang="en-US" sz="3200" dirty="0"/>
          </a:p>
        </p:txBody>
      </p:sp>
      <p:sp>
        <p:nvSpPr>
          <p:cNvPr id="6" name="Text 4"/>
          <p:cNvSpPr/>
          <p:nvPr/>
        </p:nvSpPr>
        <p:spPr>
          <a:xfrm>
            <a:off x="1417320" y="1051560"/>
            <a:ext cx="73152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Apply the confidence rubric.</a:t>
            </a:r>
            <a:endParaRPr lang="en-US" sz="2800" dirty="0"/>
          </a:p>
        </p:txBody>
      </p:sp>
      <p:sp>
        <p:nvSpPr>
          <p:cNvPr id="7" name="Text 5"/>
          <p:cNvSpPr/>
          <p:nvPr/>
        </p:nvSpPr>
        <p:spPr>
          <a:xfrm>
            <a:off x="1417320" y="1783080"/>
            <a:ext cx="7315200" cy="822960"/>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Combine all five detector outputs into one call — HIGH, MEDIUM, LOW, or NONE. Three paths can reach HIGH so custom-lab primers without DB entries can still get high confidence.</a:t>
            </a:r>
            <a:endParaRPr lang="en-US" sz="1300" dirty="0"/>
          </a:p>
        </p:txBody>
      </p:sp>
      <p:sp>
        <p:nvSpPr>
          <p:cNvPr id="8" name="Shape 6"/>
          <p:cNvSpPr/>
          <p:nvPr/>
        </p:nvSpPr>
        <p:spPr>
          <a:xfrm>
            <a:off x="548640" y="2679192"/>
            <a:ext cx="164592" cy="164592"/>
          </a:xfrm>
          <a:prstGeom prst="ellipse">
            <a:avLst/>
          </a:prstGeom>
          <a:solidFill>
            <a:srgbClr val="1C7293"/>
          </a:solidFill>
          <a:ln w="12700">
            <a:solidFill>
              <a:srgbClr val="1C7293"/>
            </a:solidFill>
            <a:prstDash val="solid"/>
          </a:ln>
        </p:spPr>
      </p:sp>
      <p:sp>
        <p:nvSpPr>
          <p:cNvPr id="9" name="Text 7"/>
          <p:cNvSpPr/>
          <p:nvPr/>
        </p:nvSpPr>
        <p:spPr>
          <a:xfrm>
            <a:off x="822960" y="260604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HIGH (path a): cutadapt ≥ 0.75 AND ≥ 2 detectors agree AND (DB-matched OR k-mer fold ≥ 10×)</a:t>
            </a:r>
            <a:endParaRPr lang="en-US" sz="1100" dirty="0"/>
          </a:p>
        </p:txBody>
      </p:sp>
      <p:sp>
        <p:nvSpPr>
          <p:cNvPr id="10" name="Shape 8"/>
          <p:cNvSpPr/>
          <p:nvPr/>
        </p:nvSpPr>
        <p:spPr>
          <a:xfrm>
            <a:off x="548640" y="3182112"/>
            <a:ext cx="164592" cy="164592"/>
          </a:xfrm>
          <a:prstGeom prst="ellipse">
            <a:avLst/>
          </a:prstGeom>
          <a:solidFill>
            <a:srgbClr val="1C7293"/>
          </a:solidFill>
          <a:ln w="12700">
            <a:solidFill>
              <a:srgbClr val="1C7293"/>
            </a:solidFill>
            <a:prstDash val="solid"/>
          </a:ln>
        </p:spPr>
      </p:sp>
      <p:sp>
        <p:nvSpPr>
          <p:cNvPr id="11" name="Text 9"/>
          <p:cNvSpPr/>
          <p:nvPr/>
        </p:nvSpPr>
        <p:spPr>
          <a:xfrm>
            <a:off x="822960" y="310896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HIGH (path b): cutadapt ≥ 0.95 AND k-mer fold ≥ 50× — the de-novo path</a:t>
            </a:r>
            <a:endParaRPr lang="en-US" sz="1100" dirty="0"/>
          </a:p>
        </p:txBody>
      </p:sp>
      <p:sp>
        <p:nvSpPr>
          <p:cNvPr id="12" name="Shape 10"/>
          <p:cNvSpPr/>
          <p:nvPr/>
        </p:nvSpPr>
        <p:spPr>
          <a:xfrm>
            <a:off x="548640" y="3685032"/>
            <a:ext cx="164592" cy="164592"/>
          </a:xfrm>
          <a:prstGeom prst="ellipse">
            <a:avLst/>
          </a:prstGeom>
          <a:solidFill>
            <a:srgbClr val="1C7293"/>
          </a:solidFill>
          <a:ln w="12700">
            <a:solidFill>
              <a:srgbClr val="1C7293"/>
            </a:solidFill>
            <a:prstDash val="solid"/>
          </a:ln>
        </p:spPr>
      </p:sp>
      <p:sp>
        <p:nvSpPr>
          <p:cNvPr id="13" name="Text 11"/>
          <p:cNvSpPr/>
          <p:nvPr/>
        </p:nvSpPr>
        <p:spPr>
          <a:xfrm>
            <a:off x="822960" y="361188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HIGH (path c): cutadapt ≥ 0.90 AND DB-matched — single-database path</a:t>
            </a:r>
            <a:endParaRPr lang="en-US" sz="1100" dirty="0"/>
          </a:p>
        </p:txBody>
      </p:sp>
      <p:sp>
        <p:nvSpPr>
          <p:cNvPr id="14" name="Shape 12"/>
          <p:cNvSpPr/>
          <p:nvPr/>
        </p:nvSpPr>
        <p:spPr>
          <a:xfrm>
            <a:off x="548640" y="4187952"/>
            <a:ext cx="164592" cy="164592"/>
          </a:xfrm>
          <a:prstGeom prst="ellipse">
            <a:avLst/>
          </a:prstGeom>
          <a:solidFill>
            <a:srgbClr val="1C7293"/>
          </a:solidFill>
          <a:ln w="12700">
            <a:solidFill>
              <a:srgbClr val="1C7293"/>
            </a:solidFill>
            <a:prstDash val="solid"/>
          </a:ln>
        </p:spPr>
      </p:sp>
      <p:sp>
        <p:nvSpPr>
          <p:cNvPr id="15" name="Text 13"/>
          <p:cNvSpPr/>
          <p:nvPr/>
        </p:nvSpPr>
        <p:spPr>
          <a:xfrm>
            <a:off x="822960" y="4114800"/>
            <a:ext cx="786384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MEDIUM / LOW / NONE on degrading cutadapt rates</a:t>
            </a:r>
            <a:endParaRPr lang="en-US" sz="1100" dirty="0"/>
          </a:p>
        </p:txBody>
      </p:sp>
      <p:sp>
        <p:nvSpPr>
          <p:cNvPr id="16" name="Text 14"/>
          <p:cNvSpPr/>
          <p:nvPr/>
        </p:nvSpPr>
        <p:spPr>
          <a:xfrm>
            <a:off x="822960" y="4297680"/>
            <a:ext cx="78638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(see slide 11 for the table)</a:t>
            </a:r>
            <a:endParaRPr lang="en-US" sz="900" dirty="0"/>
          </a:p>
        </p:txBody>
      </p:sp>
      <p:sp>
        <p:nvSpPr>
          <p:cNvPr id="17" name="Text 15"/>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10/15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DEFAULTS — AND WHY THEY ARE WHAT THEY ARE</a:t>
            </a:r>
            <a:endParaRPr lang="en-US" sz="1000" dirty="0"/>
          </a:p>
        </p:txBody>
      </p:sp>
      <p:sp>
        <p:nvSpPr>
          <p:cNvPr id="4" name="Text 2"/>
          <p:cNvSpPr/>
          <p:nvPr/>
        </p:nvSpPr>
        <p:spPr>
          <a:xfrm>
            <a:off x="502920" y="320040"/>
            <a:ext cx="82296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These numbers are not arbitrary.</a:t>
            </a:r>
            <a:endParaRPr lang="en-US" sz="2800" dirty="0"/>
          </a:p>
        </p:txBody>
      </p:sp>
      <p:sp>
        <p:nvSpPr>
          <p:cNvPr id="5" name="Shape 3"/>
          <p:cNvSpPr/>
          <p:nvPr/>
        </p:nvSpPr>
        <p:spPr>
          <a:xfrm>
            <a:off x="457200" y="1143000"/>
            <a:ext cx="8321040" cy="310896"/>
          </a:xfrm>
          <a:prstGeom prst="rect">
            <a:avLst/>
          </a:prstGeom>
          <a:solidFill>
            <a:srgbClr val="21295C"/>
          </a:solidFill>
          <a:ln w="12700">
            <a:solidFill>
              <a:srgbClr val="21295C"/>
            </a:solidFill>
            <a:prstDash val="solid"/>
          </a:ln>
        </p:spPr>
      </p:sp>
      <p:sp>
        <p:nvSpPr>
          <p:cNvPr id="6" name="Text 4"/>
          <p:cNvSpPr/>
          <p:nvPr/>
        </p:nvSpPr>
        <p:spPr>
          <a:xfrm>
            <a:off x="566928" y="1143000"/>
            <a:ext cx="274320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Default</a:t>
            </a:r>
            <a:endParaRPr lang="en-US" sz="1100" dirty="0"/>
          </a:p>
        </p:txBody>
      </p:sp>
      <p:sp>
        <p:nvSpPr>
          <p:cNvPr id="7" name="Text 5"/>
          <p:cNvSpPr/>
          <p:nvPr/>
        </p:nvSpPr>
        <p:spPr>
          <a:xfrm>
            <a:off x="3493008" y="1143000"/>
            <a:ext cx="155448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p>
        </p:txBody>
      </p:sp>
      <p:sp>
        <p:nvSpPr>
          <p:cNvPr id="8" name="Text 6"/>
          <p:cNvSpPr/>
          <p:nvPr/>
        </p:nvSpPr>
        <p:spPr>
          <a:xfrm>
            <a:off x="5230368" y="1143000"/>
            <a:ext cx="347472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p>
        </p:txBody>
      </p:sp>
      <p:sp>
        <p:nvSpPr>
          <p:cNvPr id="9" name="Shape 7"/>
          <p:cNvSpPr/>
          <p:nvPr/>
        </p:nvSpPr>
        <p:spPr>
          <a:xfrm>
            <a:off x="457200" y="1453896"/>
            <a:ext cx="8321040" cy="310896"/>
          </a:xfrm>
          <a:prstGeom prst="rect">
            <a:avLst/>
          </a:prstGeom>
          <a:solidFill>
            <a:srgbClr val="FFFFFF"/>
          </a:solidFill>
          <a:ln w="12700">
            <a:solidFill>
              <a:srgbClr val="E2E8F0"/>
            </a:solidFill>
            <a:prstDash val="solid"/>
          </a:ln>
        </p:spPr>
      </p:sp>
      <p:sp>
        <p:nvSpPr>
          <p:cNvPr id="10" name="Text 8"/>
          <p:cNvSpPr/>
          <p:nvPr/>
        </p:nvSpPr>
        <p:spPr>
          <a:xfrm>
            <a:off x="566928" y="1453896"/>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Reads sampled / orientation</a:t>
            </a:r>
            <a:endParaRPr lang="en-US" sz="1050" dirty="0"/>
          </a:p>
        </p:txBody>
      </p:sp>
      <p:sp>
        <p:nvSpPr>
          <p:cNvPr id="11" name="Text 9"/>
          <p:cNvSpPr/>
          <p:nvPr/>
        </p:nvSpPr>
        <p:spPr>
          <a:xfrm>
            <a:off x="3493008" y="1453896"/>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5,000</a:t>
            </a:r>
            <a:endParaRPr lang="en-US" sz="1050" dirty="0"/>
          </a:p>
        </p:txBody>
      </p:sp>
      <p:sp>
        <p:nvSpPr>
          <p:cNvPr id="12" name="Text 10"/>
          <p:cNvSpPr/>
          <p:nvPr/>
        </p:nvSpPr>
        <p:spPr>
          <a:xfrm>
            <a:off x="5230368" y="1453896"/>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Estimates 5′-end match rate within ~1 %, scans in seconds.</a:t>
            </a:r>
            <a:endParaRPr lang="en-US" sz="950" dirty="0"/>
          </a:p>
        </p:txBody>
      </p:sp>
      <p:sp>
        <p:nvSpPr>
          <p:cNvPr id="13" name="Shape 11"/>
          <p:cNvSpPr/>
          <p:nvPr/>
        </p:nvSpPr>
        <p:spPr>
          <a:xfrm>
            <a:off x="457200" y="1764792"/>
            <a:ext cx="8321040" cy="310896"/>
          </a:xfrm>
          <a:prstGeom prst="rect">
            <a:avLst/>
          </a:prstGeom>
          <a:solidFill>
            <a:srgbClr val="EAF2F8"/>
          </a:solidFill>
          <a:ln w="12700">
            <a:solidFill>
              <a:srgbClr val="E2E8F0"/>
            </a:solidFill>
            <a:prstDash val="solid"/>
          </a:ln>
        </p:spPr>
      </p:sp>
      <p:sp>
        <p:nvSpPr>
          <p:cNvPr id="14" name="Text 12"/>
          <p:cNvSpPr/>
          <p:nvPr/>
        </p:nvSpPr>
        <p:spPr>
          <a:xfrm>
            <a:off x="566928" y="1764792"/>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k-mer size range</a:t>
            </a:r>
            <a:endParaRPr lang="en-US" sz="1050" dirty="0"/>
          </a:p>
        </p:txBody>
      </p:sp>
      <p:sp>
        <p:nvSpPr>
          <p:cNvPr id="15" name="Text 13"/>
          <p:cNvSpPr/>
          <p:nvPr/>
        </p:nvSpPr>
        <p:spPr>
          <a:xfrm>
            <a:off x="3493008" y="1764792"/>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15..25</a:t>
            </a:r>
            <a:endParaRPr lang="en-US" sz="1050" dirty="0"/>
          </a:p>
        </p:txBody>
      </p:sp>
      <p:sp>
        <p:nvSpPr>
          <p:cNvPr id="16" name="Text 14"/>
          <p:cNvSpPr/>
          <p:nvPr/>
        </p:nvSpPr>
        <p:spPr>
          <a:xfrm>
            <a:off x="5230368" y="1764792"/>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Covers every published 16S primer length + cushion.</a:t>
            </a:r>
            <a:endParaRPr lang="en-US" sz="950" dirty="0"/>
          </a:p>
        </p:txBody>
      </p:sp>
      <p:sp>
        <p:nvSpPr>
          <p:cNvPr id="17" name="Shape 15"/>
          <p:cNvSpPr/>
          <p:nvPr/>
        </p:nvSpPr>
        <p:spPr>
          <a:xfrm>
            <a:off x="457200" y="2075688"/>
            <a:ext cx="8321040" cy="310896"/>
          </a:xfrm>
          <a:prstGeom prst="rect">
            <a:avLst/>
          </a:prstGeom>
          <a:solidFill>
            <a:srgbClr val="FFFFFF"/>
          </a:solidFill>
          <a:ln w="12700">
            <a:solidFill>
              <a:srgbClr val="E2E8F0"/>
            </a:solidFill>
            <a:prstDash val="solid"/>
          </a:ln>
        </p:spPr>
      </p:sp>
      <p:sp>
        <p:nvSpPr>
          <p:cNvPr id="18" name="Text 16"/>
          <p:cNvSpPr/>
          <p:nvPr/>
        </p:nvSpPr>
        <p:spPr>
          <a:xfrm>
            <a:off x="566928" y="2075688"/>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k-mer min fold-enrichment</a:t>
            </a:r>
            <a:endParaRPr lang="en-US" sz="1050" dirty="0"/>
          </a:p>
        </p:txBody>
      </p:sp>
      <p:sp>
        <p:nvSpPr>
          <p:cNvPr id="19" name="Text 17"/>
          <p:cNvSpPr/>
          <p:nvPr/>
        </p:nvSpPr>
        <p:spPr>
          <a:xfrm>
            <a:off x="3493008" y="2075688"/>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10×</a:t>
            </a:r>
            <a:endParaRPr lang="en-US" sz="1050" dirty="0"/>
          </a:p>
        </p:txBody>
      </p:sp>
      <p:sp>
        <p:nvSpPr>
          <p:cNvPr id="20" name="Text 18"/>
          <p:cNvSpPr/>
          <p:nvPr/>
        </p:nvSpPr>
        <p:spPr>
          <a:xfrm>
            <a:off x="5230368" y="2075688"/>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Random k-mer at position 0 by chance ≈ 1 in 67 Mb — 10× is essentially impossible.</a:t>
            </a:r>
            <a:endParaRPr lang="en-US" sz="950" dirty="0"/>
          </a:p>
        </p:txBody>
      </p:sp>
      <p:sp>
        <p:nvSpPr>
          <p:cNvPr id="21" name="Shape 19"/>
          <p:cNvSpPr/>
          <p:nvPr/>
        </p:nvSpPr>
        <p:spPr>
          <a:xfrm>
            <a:off x="457200" y="2386584"/>
            <a:ext cx="8321040" cy="310896"/>
          </a:xfrm>
          <a:prstGeom prst="rect">
            <a:avLst/>
          </a:prstGeom>
          <a:solidFill>
            <a:srgbClr val="EAF2F8"/>
          </a:solidFill>
          <a:ln w="12700">
            <a:solidFill>
              <a:srgbClr val="E2E8F0"/>
            </a:solidFill>
            <a:prstDash val="solid"/>
          </a:ln>
        </p:spPr>
      </p:sp>
      <p:sp>
        <p:nvSpPr>
          <p:cNvPr id="22" name="Text 20"/>
          <p:cNvSpPr/>
          <p:nvPr/>
        </p:nvSpPr>
        <p:spPr>
          <a:xfrm>
            <a:off x="566928" y="2386584"/>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Top candidates → cutadapt</a:t>
            </a:r>
            <a:endParaRPr lang="en-US" sz="1050" dirty="0"/>
          </a:p>
        </p:txBody>
      </p:sp>
      <p:sp>
        <p:nvSpPr>
          <p:cNvPr id="23" name="Text 21"/>
          <p:cNvSpPr/>
          <p:nvPr/>
        </p:nvSpPr>
        <p:spPr>
          <a:xfrm>
            <a:off x="3493008" y="2386584"/>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3</a:t>
            </a:r>
            <a:endParaRPr lang="en-US" sz="1050" dirty="0"/>
          </a:p>
        </p:txBody>
      </p:sp>
      <p:sp>
        <p:nvSpPr>
          <p:cNvPr id="24" name="Text 22"/>
          <p:cNvSpPr/>
          <p:nvPr/>
        </p:nvSpPr>
        <p:spPr>
          <a:xfrm>
            <a:off x="5230368" y="2386584"/>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Two misses ties; four wastes time on already-deprioritised candidates.</a:t>
            </a:r>
            <a:endParaRPr lang="en-US" sz="950" dirty="0"/>
          </a:p>
        </p:txBody>
      </p:sp>
      <p:sp>
        <p:nvSpPr>
          <p:cNvPr id="25" name="Shape 23"/>
          <p:cNvSpPr/>
          <p:nvPr/>
        </p:nvSpPr>
        <p:spPr>
          <a:xfrm>
            <a:off x="457200" y="2697480"/>
            <a:ext cx="8321040" cy="310896"/>
          </a:xfrm>
          <a:prstGeom prst="rect">
            <a:avLst/>
          </a:prstGeom>
          <a:solidFill>
            <a:srgbClr val="FFFFFF"/>
          </a:solidFill>
          <a:ln w="12700">
            <a:solidFill>
              <a:srgbClr val="E2E8F0"/>
            </a:solidFill>
            <a:prstDash val="solid"/>
          </a:ln>
        </p:spPr>
      </p:sp>
      <p:sp>
        <p:nvSpPr>
          <p:cNvPr id="26" name="Text 24"/>
          <p:cNvSpPr/>
          <p:nvPr/>
        </p:nvSpPr>
        <p:spPr>
          <a:xfrm>
            <a:off x="566928" y="2697480"/>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Cutadapt error rate (-e)</a:t>
            </a:r>
            <a:endParaRPr lang="en-US" sz="1050" dirty="0"/>
          </a:p>
        </p:txBody>
      </p:sp>
      <p:sp>
        <p:nvSpPr>
          <p:cNvPr id="27" name="Text 25"/>
          <p:cNvSpPr/>
          <p:nvPr/>
        </p:nvSpPr>
        <p:spPr>
          <a:xfrm>
            <a:off x="3493008" y="2697480"/>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0.15</a:t>
            </a:r>
            <a:endParaRPr lang="en-US" sz="1050" dirty="0"/>
          </a:p>
        </p:txBody>
      </p:sp>
      <p:sp>
        <p:nvSpPr>
          <p:cNvPr id="28" name="Text 26"/>
          <p:cNvSpPr/>
          <p:nvPr/>
        </p:nvSpPr>
        <p:spPr>
          <a:xfrm>
            <a:off x="5230368" y="2697480"/>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Cutadapt's own recommended default for 16S; tolerates 1–2 sequencing errors.</a:t>
            </a:r>
            <a:endParaRPr lang="en-US" sz="950" dirty="0"/>
          </a:p>
        </p:txBody>
      </p:sp>
      <p:sp>
        <p:nvSpPr>
          <p:cNvPr id="29" name="Shape 27"/>
          <p:cNvSpPr/>
          <p:nvPr/>
        </p:nvSpPr>
        <p:spPr>
          <a:xfrm>
            <a:off x="457200" y="3008376"/>
            <a:ext cx="8321040" cy="310896"/>
          </a:xfrm>
          <a:prstGeom prst="rect">
            <a:avLst/>
          </a:prstGeom>
          <a:solidFill>
            <a:srgbClr val="EAF2F8"/>
          </a:solidFill>
          <a:ln w="12700">
            <a:solidFill>
              <a:srgbClr val="E2E8F0"/>
            </a:solidFill>
            <a:prstDash val="solid"/>
          </a:ln>
        </p:spPr>
      </p:sp>
      <p:sp>
        <p:nvSpPr>
          <p:cNvPr id="30" name="Text 28"/>
          <p:cNvSpPr/>
          <p:nvPr/>
        </p:nvSpPr>
        <p:spPr>
          <a:xfrm>
            <a:off x="566928" y="3008376"/>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Cutadapt min trim rate</a:t>
            </a:r>
            <a:endParaRPr lang="en-US" sz="1050" dirty="0"/>
          </a:p>
        </p:txBody>
      </p:sp>
      <p:sp>
        <p:nvSpPr>
          <p:cNvPr id="31" name="Text 29"/>
          <p:cNvSpPr/>
          <p:nvPr/>
        </p:nvSpPr>
        <p:spPr>
          <a:xfrm>
            <a:off x="3493008" y="3008376"/>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0.30</a:t>
            </a:r>
            <a:endParaRPr lang="en-US" sz="1050" dirty="0"/>
          </a:p>
        </p:txBody>
      </p:sp>
      <p:sp>
        <p:nvSpPr>
          <p:cNvPr id="32" name="Text 30"/>
          <p:cNvSpPr/>
          <p:nvPr/>
        </p:nvSpPr>
        <p:spPr>
          <a:xfrm>
            <a:off x="5230368" y="3008376"/>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Below 30 % we declare false positive even if our detectors liked it.</a:t>
            </a:r>
            <a:endParaRPr lang="en-US" sz="950" dirty="0"/>
          </a:p>
        </p:txBody>
      </p:sp>
      <p:sp>
        <p:nvSpPr>
          <p:cNvPr id="33" name="Shape 31"/>
          <p:cNvSpPr/>
          <p:nvPr/>
        </p:nvSpPr>
        <p:spPr>
          <a:xfrm>
            <a:off x="457200" y="3319272"/>
            <a:ext cx="8321040" cy="310896"/>
          </a:xfrm>
          <a:prstGeom prst="rect">
            <a:avLst/>
          </a:prstGeom>
          <a:solidFill>
            <a:srgbClr val="FFFFFF"/>
          </a:solidFill>
          <a:ln w="12700">
            <a:solidFill>
              <a:srgbClr val="E2E8F0"/>
            </a:solidFill>
            <a:prstDash val="solid"/>
          </a:ln>
        </p:spPr>
      </p:sp>
      <p:sp>
        <p:nvSpPr>
          <p:cNvPr id="34" name="Text 32"/>
          <p:cNvSpPr/>
          <p:nvPr/>
        </p:nvSpPr>
        <p:spPr>
          <a:xfrm>
            <a:off x="566928" y="3319272"/>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HIGH cutadapt floor</a:t>
            </a:r>
            <a:endParaRPr lang="en-US" sz="1050" dirty="0"/>
          </a:p>
        </p:txBody>
      </p:sp>
      <p:sp>
        <p:nvSpPr>
          <p:cNvPr id="35" name="Text 33"/>
          <p:cNvSpPr/>
          <p:nvPr/>
        </p:nvSpPr>
        <p:spPr>
          <a:xfrm>
            <a:off x="3493008" y="3319272"/>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0.75</a:t>
            </a:r>
            <a:endParaRPr lang="en-US" sz="1050" dirty="0"/>
          </a:p>
        </p:txBody>
      </p:sp>
      <p:sp>
        <p:nvSpPr>
          <p:cNvPr id="36" name="Text 34"/>
          <p:cNvSpPr/>
          <p:nvPr/>
        </p:nvSpPr>
        <p:spPr>
          <a:xfrm>
            <a:off x="5230368" y="3319272"/>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Real 16S primers in well-prepared libraries trim ≥ 75 %.</a:t>
            </a:r>
            <a:endParaRPr lang="en-US" sz="950" dirty="0"/>
          </a:p>
        </p:txBody>
      </p:sp>
      <p:sp>
        <p:nvSpPr>
          <p:cNvPr id="37" name="Shape 35"/>
          <p:cNvSpPr/>
          <p:nvPr/>
        </p:nvSpPr>
        <p:spPr>
          <a:xfrm>
            <a:off x="457200" y="3630168"/>
            <a:ext cx="8321040" cy="310896"/>
          </a:xfrm>
          <a:prstGeom prst="rect">
            <a:avLst/>
          </a:prstGeom>
          <a:solidFill>
            <a:srgbClr val="EAF2F8"/>
          </a:solidFill>
          <a:ln w="12700">
            <a:solidFill>
              <a:srgbClr val="E2E8F0"/>
            </a:solidFill>
            <a:prstDash val="solid"/>
          </a:ln>
        </p:spPr>
      </p:sp>
      <p:sp>
        <p:nvSpPr>
          <p:cNvPr id="38" name="Text 36"/>
          <p:cNvSpPr/>
          <p:nvPr/>
        </p:nvSpPr>
        <p:spPr>
          <a:xfrm>
            <a:off x="566928" y="3630168"/>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HIGH detector-agreement floor</a:t>
            </a:r>
            <a:endParaRPr lang="en-US" sz="1050" dirty="0"/>
          </a:p>
        </p:txBody>
      </p:sp>
      <p:sp>
        <p:nvSpPr>
          <p:cNvPr id="39" name="Text 37"/>
          <p:cNvSpPr/>
          <p:nvPr/>
        </p:nvSpPr>
        <p:spPr>
          <a:xfrm>
            <a:off x="3493008" y="3630168"/>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 2</a:t>
            </a:r>
            <a:endParaRPr lang="en-US" sz="1050" dirty="0"/>
          </a:p>
        </p:txBody>
      </p:sp>
      <p:sp>
        <p:nvSpPr>
          <p:cNvPr id="40" name="Text 38"/>
          <p:cNvSpPr/>
          <p:nvPr/>
        </p:nvSpPr>
        <p:spPr>
          <a:xfrm>
            <a:off x="5230368" y="3630168"/>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One detector can be wrong; two agreeing is what we mean by consensus.</a:t>
            </a:r>
            <a:endParaRPr lang="en-US" sz="950" dirty="0"/>
          </a:p>
        </p:txBody>
      </p:sp>
      <p:sp>
        <p:nvSpPr>
          <p:cNvPr id="41" name="Shape 39"/>
          <p:cNvSpPr/>
          <p:nvPr/>
        </p:nvSpPr>
        <p:spPr>
          <a:xfrm>
            <a:off x="457200" y="3941064"/>
            <a:ext cx="8321040" cy="310896"/>
          </a:xfrm>
          <a:prstGeom prst="rect">
            <a:avLst/>
          </a:prstGeom>
          <a:solidFill>
            <a:srgbClr val="FFFFFF"/>
          </a:solidFill>
          <a:ln w="12700">
            <a:solidFill>
              <a:srgbClr val="E2E8F0"/>
            </a:solidFill>
            <a:prstDash val="solid"/>
          </a:ln>
        </p:spPr>
      </p:sp>
      <p:sp>
        <p:nvSpPr>
          <p:cNvPr id="42" name="Text 40"/>
          <p:cNvSpPr/>
          <p:nvPr/>
        </p:nvSpPr>
        <p:spPr>
          <a:xfrm>
            <a:off x="566928" y="3941064"/>
            <a:ext cx="2743200" cy="31089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Threads (fastp/cutadapt)</a:t>
            </a:r>
            <a:endParaRPr lang="en-US" sz="1050" dirty="0"/>
          </a:p>
        </p:txBody>
      </p:sp>
      <p:sp>
        <p:nvSpPr>
          <p:cNvPr id="43" name="Text 41"/>
          <p:cNvSpPr/>
          <p:nvPr/>
        </p:nvSpPr>
        <p:spPr>
          <a:xfrm>
            <a:off x="3493008" y="3941064"/>
            <a:ext cx="15544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2</a:t>
            </a:r>
            <a:endParaRPr lang="en-US" sz="1050" dirty="0"/>
          </a:p>
        </p:txBody>
      </p:sp>
      <p:sp>
        <p:nvSpPr>
          <p:cNvPr id="44" name="Text 42"/>
          <p:cNvSpPr/>
          <p:nvPr/>
        </p:nvSpPr>
        <p:spPr>
          <a:xfrm>
            <a:off x="5230368" y="3941064"/>
            <a:ext cx="3474720" cy="310896"/>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Step 0 is I/O-bound, not CPU-bound. More threads don't help.</a:t>
            </a:r>
            <a:endParaRPr lang="en-US" sz="950" dirty="0"/>
          </a:p>
        </p:txBody>
      </p:sp>
      <p:sp>
        <p:nvSpPr>
          <p:cNvPr id="45" name="Text 43"/>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11/15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FALLBACKS — AND WHY THEY EXIST</a:t>
            </a:r>
            <a:endParaRPr lang="en-US" sz="1000" dirty="0"/>
          </a:p>
        </p:txBody>
      </p:sp>
      <p:sp>
        <p:nvSpPr>
          <p:cNvPr id="4" name="Text 2"/>
          <p:cNvSpPr/>
          <p:nvPr/>
        </p:nvSpPr>
        <p:spPr>
          <a:xfrm>
            <a:off x="502920" y="320040"/>
            <a:ext cx="82296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We always return a verdict. We never hide a compromise.</a:t>
            </a:r>
            <a:endParaRPr lang="en-US" sz="2800" dirty="0"/>
          </a:p>
        </p:txBody>
      </p:sp>
      <p:sp>
        <p:nvSpPr>
          <p:cNvPr id="5" name="Shape 3"/>
          <p:cNvSpPr/>
          <p:nvPr/>
        </p:nvSpPr>
        <p:spPr>
          <a:xfrm>
            <a:off x="457200" y="1005840"/>
            <a:ext cx="8321040" cy="256032"/>
          </a:xfrm>
          <a:prstGeom prst="rect">
            <a:avLst/>
          </a:prstGeom>
          <a:solidFill>
            <a:srgbClr val="21295C"/>
          </a:solidFill>
          <a:ln w="12700">
            <a:solidFill>
              <a:srgbClr val="21295C"/>
            </a:solidFill>
            <a:prstDash val="solid"/>
          </a:ln>
        </p:spPr>
      </p:sp>
      <p:sp>
        <p:nvSpPr>
          <p:cNvPr id="6" name="Text 4"/>
          <p:cNvSpPr/>
          <p:nvPr/>
        </p:nvSpPr>
        <p:spPr>
          <a:xfrm>
            <a:off x="685800" y="1005840"/>
            <a:ext cx="2743200" cy="256032"/>
          </a:xfrm>
          <a:prstGeom prst="rect">
            <a:avLst/>
          </a:prstGeom>
          <a:noFill/>
          <a:ln/>
        </p:spPr>
        <p:txBody>
          <a:bodyPr wrap="square" lIns="0" tIns="0" rIns="0" bIns="0" rtlCol="0" anchor="ctr"/>
          <a:lstStyle/>
          <a:p>
            <a:pPr indent="0" marL="0">
              <a:buNone/>
            </a:pPr>
            <a:r>
              <a:rPr lang="en-US" sz="900" b="1" spc="300" kern="0" dirty="0">
                <a:solidFill>
                  <a:srgbClr val="FFFFFF"/>
                </a:solidFill>
                <a:latin typeface="Calibri" pitchFamily="34" charset="0"/>
                <a:ea typeface="Calibri" pitchFamily="34" charset="-122"/>
                <a:cs typeface="Calibri" pitchFamily="34" charset="-120"/>
              </a:rPr>
              <a:t>FALLBACK</a:t>
            </a:r>
            <a:endParaRPr lang="en-US" sz="900" dirty="0"/>
          </a:p>
        </p:txBody>
      </p:sp>
      <p:sp>
        <p:nvSpPr>
          <p:cNvPr id="7" name="Text 5"/>
          <p:cNvSpPr/>
          <p:nvPr/>
        </p:nvSpPr>
        <p:spPr>
          <a:xfrm>
            <a:off x="3474720" y="1005840"/>
            <a:ext cx="2560320" cy="256032"/>
          </a:xfrm>
          <a:prstGeom prst="rect">
            <a:avLst/>
          </a:prstGeom>
          <a:noFill/>
          <a:ln/>
        </p:spPr>
        <p:txBody>
          <a:bodyPr wrap="square" lIns="0" tIns="0" rIns="0" bIns="0" rtlCol="0" anchor="ctr"/>
          <a:lstStyle/>
          <a:p>
            <a:pPr indent="0" marL="0">
              <a:buNone/>
            </a:pPr>
            <a:r>
              <a:rPr lang="en-US" sz="900" b="1" spc="300" kern="0" dirty="0">
                <a:solidFill>
                  <a:srgbClr val="FFFFFF"/>
                </a:solidFill>
                <a:latin typeface="Calibri" pitchFamily="34" charset="0"/>
                <a:ea typeface="Calibri" pitchFamily="34" charset="-122"/>
                <a:cs typeface="Calibri" pitchFamily="34" charset="-120"/>
              </a:rPr>
              <a:t>WHEN IT TRIGGERS</a:t>
            </a:r>
            <a:endParaRPr lang="en-US" sz="900" dirty="0"/>
          </a:p>
        </p:txBody>
      </p:sp>
      <p:sp>
        <p:nvSpPr>
          <p:cNvPr id="8" name="Text 6"/>
          <p:cNvSpPr/>
          <p:nvPr/>
        </p:nvSpPr>
        <p:spPr>
          <a:xfrm>
            <a:off x="6080760" y="1005840"/>
            <a:ext cx="2697480" cy="256032"/>
          </a:xfrm>
          <a:prstGeom prst="rect">
            <a:avLst/>
          </a:prstGeom>
          <a:noFill/>
          <a:ln/>
        </p:spPr>
        <p:txBody>
          <a:bodyPr wrap="square" lIns="0" tIns="0" rIns="0" bIns="0" rtlCol="0" anchor="ctr"/>
          <a:lstStyle/>
          <a:p>
            <a:pPr indent="0" marL="0">
              <a:buNone/>
            </a:pPr>
            <a:r>
              <a:rPr lang="en-US" sz="900" b="1" spc="300" kern="0" dirty="0">
                <a:solidFill>
                  <a:srgbClr val="FFFFFF"/>
                </a:solidFill>
                <a:latin typeface="Calibri" pitchFamily="34" charset="0"/>
                <a:ea typeface="Calibri" pitchFamily="34" charset="-122"/>
                <a:cs typeface="Calibri" pitchFamily="34" charset="-120"/>
              </a:rPr>
              <a:t>WHY IT EXISTS</a:t>
            </a:r>
            <a:endParaRPr lang="en-US" sz="900" dirty="0"/>
          </a:p>
        </p:txBody>
      </p:sp>
      <p:sp>
        <p:nvSpPr>
          <p:cNvPr id="9" name="Shape 7"/>
          <p:cNvSpPr/>
          <p:nvPr/>
        </p:nvSpPr>
        <p:spPr>
          <a:xfrm>
            <a:off x="457200" y="1280160"/>
            <a:ext cx="8321040" cy="566928"/>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457200" y="1280160"/>
            <a:ext cx="91440" cy="566928"/>
          </a:xfrm>
          <a:prstGeom prst="rect">
            <a:avLst/>
          </a:prstGeom>
          <a:solidFill>
            <a:srgbClr val="B85042"/>
          </a:solidFill>
          <a:ln w="12700">
            <a:solidFill>
              <a:srgbClr val="B85042"/>
            </a:solidFill>
            <a:prstDash val="solid"/>
          </a:ln>
        </p:spPr>
      </p:sp>
      <p:sp>
        <p:nvSpPr>
          <p:cNvPr id="11" name="Text 9"/>
          <p:cNvSpPr/>
          <p:nvPr/>
        </p:nvSpPr>
        <p:spPr>
          <a:xfrm>
            <a:off x="685800" y="1325880"/>
            <a:ext cx="2743200" cy="475488"/>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Manual primer fast-path</a:t>
            </a:r>
            <a:endParaRPr lang="en-US" sz="1100" dirty="0"/>
          </a:p>
        </p:txBody>
      </p:sp>
      <p:sp>
        <p:nvSpPr>
          <p:cNvPr id="12" name="Text 10"/>
          <p:cNvSpPr/>
          <p:nvPr/>
        </p:nvSpPr>
        <p:spPr>
          <a:xfrm>
            <a:off x="3474720" y="1325880"/>
            <a:ext cx="2560320" cy="47548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User passed --forward-primer / --reverse-primer</a:t>
            </a:r>
            <a:endParaRPr lang="en-US" sz="1000" dirty="0"/>
          </a:p>
        </p:txBody>
      </p:sp>
      <p:sp>
        <p:nvSpPr>
          <p:cNvPr id="13" name="Text 11"/>
          <p:cNvSpPr/>
          <p:nvPr/>
        </p:nvSpPr>
        <p:spPr>
          <a:xfrm>
            <a:off x="6080760" y="1325880"/>
            <a:ext cx="2697480" cy="47548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Trust the user; delegate to the v2 IUPAC matcher's USER_SUPPLIED path.</a:t>
            </a:r>
            <a:endParaRPr lang="en-US" sz="1000" dirty="0"/>
          </a:p>
        </p:txBody>
      </p:sp>
      <p:sp>
        <p:nvSpPr>
          <p:cNvPr id="14" name="Shape 12"/>
          <p:cNvSpPr/>
          <p:nvPr/>
        </p:nvSpPr>
        <p:spPr>
          <a:xfrm>
            <a:off x="457200" y="1938528"/>
            <a:ext cx="8321040" cy="566928"/>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5" name="Shape 13"/>
          <p:cNvSpPr/>
          <p:nvPr/>
        </p:nvSpPr>
        <p:spPr>
          <a:xfrm>
            <a:off x="457200" y="1938528"/>
            <a:ext cx="91440" cy="566928"/>
          </a:xfrm>
          <a:prstGeom prst="rect">
            <a:avLst/>
          </a:prstGeom>
          <a:solidFill>
            <a:srgbClr val="B85042"/>
          </a:solidFill>
          <a:ln w="12700">
            <a:solidFill>
              <a:srgbClr val="B85042"/>
            </a:solidFill>
            <a:prstDash val="solid"/>
          </a:ln>
        </p:spPr>
      </p:sp>
      <p:sp>
        <p:nvSpPr>
          <p:cNvPr id="16" name="Text 14"/>
          <p:cNvSpPr/>
          <p:nvPr/>
        </p:nvSpPr>
        <p:spPr>
          <a:xfrm>
            <a:off x="685800" y="1984248"/>
            <a:ext cx="2743200" cy="475488"/>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Detector D skipped</a:t>
            </a:r>
            <a:endParaRPr lang="en-US" sz="1100" dirty="0"/>
          </a:p>
        </p:txBody>
      </p:sp>
      <p:sp>
        <p:nvSpPr>
          <p:cNvPr id="17" name="Text 15"/>
          <p:cNvSpPr/>
          <p:nvPr/>
        </p:nvSpPr>
        <p:spPr>
          <a:xfrm>
            <a:off x="3474720" y="1984248"/>
            <a:ext cx="2560320" cy="47548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fastp not on PATH (or --no-fastp)</a:t>
            </a:r>
            <a:endParaRPr lang="en-US" sz="1000" dirty="0"/>
          </a:p>
        </p:txBody>
      </p:sp>
      <p:sp>
        <p:nvSpPr>
          <p:cNvPr id="18" name="Text 16"/>
          <p:cNvSpPr/>
          <p:nvPr/>
        </p:nvSpPr>
        <p:spPr>
          <a:xfrm>
            <a:off x="6080760" y="1984248"/>
            <a:ext cx="2697480" cy="47548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fastp is nice-to-have; A/B/C/E still deliver a defensible verdict.</a:t>
            </a:r>
            <a:endParaRPr lang="en-US" sz="1000" dirty="0"/>
          </a:p>
        </p:txBody>
      </p:sp>
      <p:sp>
        <p:nvSpPr>
          <p:cNvPr id="19" name="Shape 17"/>
          <p:cNvSpPr/>
          <p:nvPr/>
        </p:nvSpPr>
        <p:spPr>
          <a:xfrm>
            <a:off x="457200" y="2596896"/>
            <a:ext cx="8321040" cy="566928"/>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20" name="Shape 18"/>
          <p:cNvSpPr/>
          <p:nvPr/>
        </p:nvSpPr>
        <p:spPr>
          <a:xfrm>
            <a:off x="457200" y="2596896"/>
            <a:ext cx="91440" cy="566928"/>
          </a:xfrm>
          <a:prstGeom prst="rect">
            <a:avLst/>
          </a:prstGeom>
          <a:solidFill>
            <a:srgbClr val="B85042"/>
          </a:solidFill>
          <a:ln w="12700">
            <a:solidFill>
              <a:srgbClr val="B85042"/>
            </a:solidFill>
            <a:prstDash val="solid"/>
          </a:ln>
        </p:spPr>
      </p:sp>
      <p:sp>
        <p:nvSpPr>
          <p:cNvPr id="21" name="Text 19"/>
          <p:cNvSpPr/>
          <p:nvPr/>
        </p:nvSpPr>
        <p:spPr>
          <a:xfrm>
            <a:off x="685800" y="2642616"/>
            <a:ext cx="2743200" cy="475488"/>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TIER 2: V-region anchor</a:t>
            </a:r>
            <a:endParaRPr lang="en-US" sz="1100" dirty="0"/>
          </a:p>
        </p:txBody>
      </p:sp>
      <p:sp>
        <p:nvSpPr>
          <p:cNvPr id="22" name="Text 20"/>
          <p:cNvSpPr/>
          <p:nvPr/>
        </p:nvSpPr>
        <p:spPr>
          <a:xfrm>
            <a:off x="3474720" y="2642616"/>
            <a:ext cx="2560320" cy="47548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 DB primer matched BUT V-region motif present</a:t>
            </a:r>
            <a:endParaRPr lang="en-US" sz="1000" dirty="0"/>
          </a:p>
        </p:txBody>
      </p:sp>
      <p:sp>
        <p:nvSpPr>
          <p:cNvPr id="23" name="Text 21"/>
          <p:cNvSpPr/>
          <p:nvPr/>
        </p:nvSpPr>
        <p:spPr>
          <a:xfrm>
            <a:off x="6080760" y="2642616"/>
            <a:ext cx="2697480" cy="47548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Sequencing facility pre-trimmed primers. Report DETECTION_STATUS=TRIMMED.</a:t>
            </a:r>
            <a:endParaRPr lang="en-US" sz="1000" dirty="0"/>
          </a:p>
        </p:txBody>
      </p:sp>
      <p:sp>
        <p:nvSpPr>
          <p:cNvPr id="24" name="Shape 22"/>
          <p:cNvSpPr/>
          <p:nvPr/>
        </p:nvSpPr>
        <p:spPr>
          <a:xfrm>
            <a:off x="457200" y="3255264"/>
            <a:ext cx="8321040" cy="566928"/>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25" name="Shape 23"/>
          <p:cNvSpPr/>
          <p:nvPr/>
        </p:nvSpPr>
        <p:spPr>
          <a:xfrm>
            <a:off x="457200" y="3255264"/>
            <a:ext cx="91440" cy="566928"/>
          </a:xfrm>
          <a:prstGeom prst="rect">
            <a:avLst/>
          </a:prstGeom>
          <a:solidFill>
            <a:srgbClr val="B85042"/>
          </a:solidFill>
          <a:ln w="12700">
            <a:solidFill>
              <a:srgbClr val="B85042"/>
            </a:solidFill>
            <a:prstDash val="solid"/>
          </a:ln>
        </p:spPr>
      </p:sp>
      <p:sp>
        <p:nvSpPr>
          <p:cNvPr id="26" name="Text 24"/>
          <p:cNvSpPr/>
          <p:nvPr/>
        </p:nvSpPr>
        <p:spPr>
          <a:xfrm>
            <a:off x="685800" y="3300984"/>
            <a:ext cx="2743200" cy="475488"/>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TIER 3: rich-diagnostic UNKNOWN</a:t>
            </a:r>
            <a:endParaRPr lang="en-US" sz="1100" dirty="0"/>
          </a:p>
        </p:txBody>
      </p:sp>
      <p:sp>
        <p:nvSpPr>
          <p:cNvPr id="27" name="Text 25"/>
          <p:cNvSpPr/>
          <p:nvPr/>
        </p:nvSpPr>
        <p:spPr>
          <a:xfrm>
            <a:off x="3474720" y="3300984"/>
            <a:ext cx="2560320" cy="47548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Nothing matched at all</a:t>
            </a:r>
            <a:endParaRPr lang="en-US" sz="1000" dirty="0"/>
          </a:p>
        </p:txBody>
      </p:sp>
      <p:sp>
        <p:nvSpPr>
          <p:cNvPr id="28" name="Text 26"/>
          <p:cNvSpPr/>
          <p:nvPr/>
        </p:nvSpPr>
        <p:spPr>
          <a:xfrm>
            <a:off x="6080760" y="3300984"/>
            <a:ext cx="2697480" cy="47548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Better to flag UNKNOWN than silently guess. Output ships top-3 sub-threshold candidates + read-length histogram.</a:t>
            </a:r>
            <a:endParaRPr lang="en-US" sz="1000" dirty="0"/>
          </a:p>
        </p:txBody>
      </p:sp>
      <p:sp>
        <p:nvSpPr>
          <p:cNvPr id="29" name="Text 27"/>
          <p:cNvSpPr/>
          <p:nvPr/>
        </p:nvSpPr>
        <p:spPr>
          <a:xfrm>
            <a:off x="457200" y="4480560"/>
            <a:ext cx="8321040" cy="274320"/>
          </a:xfrm>
          <a:prstGeom prst="rect">
            <a:avLst/>
          </a:prstGeom>
          <a:noFill/>
          <a:ln/>
        </p:spPr>
        <p:txBody>
          <a:bodyPr wrap="square" rtlCol="0" anchor="ctr"/>
          <a:lstStyle/>
          <a:p>
            <a:pPr algn="ctr" indent="0" marL="0">
              <a:buNone/>
            </a:pPr>
            <a:r>
              <a:rPr lang="en-US" sz="1000" i="1" dirty="0">
                <a:solidFill>
                  <a:srgbClr val="1C7293"/>
                </a:solidFill>
                <a:latin typeface="Calibri" pitchFamily="34" charset="0"/>
                <a:ea typeface="Calibri" pitchFamily="34" charset="-122"/>
                <a:cs typeface="Calibri" pitchFamily="34" charset="-120"/>
              </a:rPr>
              <a:t>Every fall-back path is logged to mbx_primer_info.txt and pro_diagnostics/. Nothing silent.</a:t>
            </a:r>
            <a:endParaRPr lang="en-US" sz="1000" dirty="0"/>
          </a:p>
        </p:txBody>
      </p:sp>
      <p:sp>
        <p:nvSpPr>
          <p:cNvPr id="30" name="Text 28"/>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12/15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OUTPUT</a:t>
            </a:r>
            <a:endParaRPr lang="en-US" sz="1000" dirty="0"/>
          </a:p>
        </p:txBody>
      </p:sp>
      <p:sp>
        <p:nvSpPr>
          <p:cNvPr id="4" name="Text 2"/>
          <p:cNvSpPr/>
          <p:nvPr/>
        </p:nvSpPr>
        <p:spPr>
          <a:xfrm>
            <a:off x="502920" y="320040"/>
            <a:ext cx="82296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What every downstream step reads.</a:t>
            </a:r>
            <a:endParaRPr lang="en-US" sz="2800" dirty="0"/>
          </a:p>
        </p:txBody>
      </p:sp>
      <p:sp>
        <p:nvSpPr>
          <p:cNvPr id="5" name="Shape 3"/>
          <p:cNvSpPr/>
          <p:nvPr/>
        </p:nvSpPr>
        <p:spPr>
          <a:xfrm>
            <a:off x="4937760" y="1874520"/>
            <a:ext cx="3840480" cy="27432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6" name="Text 4"/>
          <p:cNvSpPr/>
          <p:nvPr/>
        </p:nvSpPr>
        <p:spPr>
          <a:xfrm>
            <a:off x="5074920" y="1965960"/>
            <a:ext cx="3657600" cy="274320"/>
          </a:xfrm>
          <a:prstGeom prst="rect">
            <a:avLst/>
          </a:prstGeom>
          <a:noFill/>
          <a:ln/>
        </p:spPr>
        <p:txBody>
          <a:bodyPr wrap="square" rtlCol="0" anchor="ctr"/>
          <a:lstStyle/>
          <a:p>
            <a:pPr indent="0" marL="0">
              <a:buNone/>
            </a:pPr>
            <a:r>
              <a:rPr lang="en-US" sz="1100" b="1" spc="200" kern="0" dirty="0">
                <a:solidFill>
                  <a:srgbClr val="065A82"/>
                </a:solidFill>
                <a:latin typeface="Calibri" pitchFamily="34" charset="0"/>
                <a:ea typeface="Calibri" pitchFamily="34" charset="-122"/>
                <a:cs typeface="Calibri" pitchFamily="34" charset="-120"/>
              </a:rPr>
              <a:t>mbx_primer_info.txt</a:t>
            </a:r>
            <a:endParaRPr lang="en-US" sz="1100" dirty="0"/>
          </a:p>
        </p:txBody>
      </p:sp>
      <p:sp>
        <p:nvSpPr>
          <p:cNvPr id="7" name="Text 5"/>
          <p:cNvSpPr/>
          <p:nvPr/>
        </p:nvSpPr>
        <p:spPr>
          <a:xfrm>
            <a:off x="5074920" y="2286000"/>
            <a:ext cx="3657600" cy="2286000"/>
          </a:xfrm>
          <a:prstGeom prst="rect">
            <a:avLst/>
          </a:prstGeom>
          <a:noFill/>
          <a:ln/>
        </p:spPr>
        <p:txBody>
          <a:bodyPr wrap="square" rtlCol="0" anchor="t"/>
          <a:lstStyle/>
          <a:p>
            <a:pPr indent="0" marL="0">
              <a:buNone/>
            </a:pPr>
            <a:r>
              <a:rPr lang="en-US" sz="1000" dirty="0">
                <a:solidFill>
                  <a:srgbClr val="1E293B"/>
                </a:solidFill>
                <a:latin typeface="Courier New" pitchFamily="34" charset="0"/>
                <a:ea typeface="Courier New" pitchFamily="34" charset="-122"/>
                <a:cs typeface="Courier New" pitchFamily="34" charset="-120"/>
              </a:rPr>
              <a:t>DETECTION_STATUS=DETECTED</a:t>
            </a: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CONFIDENCE_LEVEL=HIGH</a:t>
            </a: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INFERRED_REGION=V4</a:t>
            </a: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PIPELINE_SAFETY=safe-to-trim</a:t>
            </a:r>
            <a:endParaRPr lang="en-US" sz="1000" dirty="0"/>
          </a:p>
          <a:p>
            <a:pPr indent="0" marL="0">
              <a:buNone/>
            </a:pP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FORWARD_PRIMER_NAME=515F</a:t>
            </a: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FORWARD_PRIMER_SEQUENCE=</a:t>
            </a: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  GTGYCAGCMGCCGCGGTAA</a:t>
            </a: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FORWARD_PRIMER_MATCH_RATE=0.96</a:t>
            </a:r>
            <a:endParaRPr lang="en-US" sz="1000" dirty="0"/>
          </a:p>
          <a:p>
            <a:pPr indent="0" marL="0">
              <a:buNone/>
            </a:pP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REVERSE_PRIMER_NAME=806R</a:t>
            </a: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REVERSE_PRIMER_SEQUENCE=</a:t>
            </a: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  GGACTACNVGGGTWTCTAAT</a:t>
            </a:r>
            <a:endParaRPr lang="en-US" sz="1000" dirty="0"/>
          </a:p>
          <a:p>
            <a:pPr indent="0" marL="0">
              <a:buNone/>
            </a:pPr>
            <a:endParaRPr lang="en-US" sz="1000" dirty="0"/>
          </a:p>
          <a:p>
            <a:pPr indent="0" marL="0">
              <a:buNone/>
            </a:pPr>
            <a:r>
              <a:rPr lang="en-US" sz="1000" dirty="0">
                <a:solidFill>
                  <a:srgbClr val="1E293B"/>
                </a:solidFill>
                <a:latin typeface="Courier New" pitchFamily="34" charset="0"/>
                <a:ea typeface="Courier New" pitchFamily="34" charset="-122"/>
                <a:cs typeface="Courier New" pitchFamily="34" charset="-120"/>
              </a:rPr>
              <a:t>STATUS=COMPLETE</a:t>
            </a:r>
            <a:endParaRPr lang="en-US" sz="1000" dirty="0"/>
          </a:p>
        </p:txBody>
      </p:sp>
      <p:sp>
        <p:nvSpPr>
          <p:cNvPr id="8" name="Text 6"/>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13/15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182880" y="457200"/>
            <a:ext cx="5943600" cy="5486400"/>
          </a:xfrm>
          <a:prstGeom prst="rect">
            <a:avLst/>
          </a:prstGeom>
          <a:noFill/>
          <a:ln/>
        </p:spPr>
        <p:txBody>
          <a:bodyPr wrap="square" rtlCol="0" anchor="ctr"/>
          <a:lstStyle/>
          <a:p>
            <a:pPr algn="ctr" indent="0" marL="0">
              <a:buNone/>
            </a:pPr>
            <a:r>
              <a:rPr lang="en-US" sz="32000" b="1" dirty="0">
                <a:solidFill>
                  <a:srgbClr val="065A82">
                    <a:alpha val="50000"/>
                  </a:srgbClr>
                </a:solidFill>
                <a:latin typeface="Cambria" pitchFamily="34" charset="0"/>
                <a:ea typeface="Cambria" pitchFamily="34" charset="-122"/>
                <a:cs typeface="Cambria" pitchFamily="34" charset="-120"/>
              </a:rPr>
              <a:t>5</a:t>
            </a:r>
            <a:endParaRPr lang="en-US" sz="32000" dirty="0"/>
          </a:p>
        </p:txBody>
      </p:sp>
      <p:sp>
        <p:nvSpPr>
          <p:cNvPr id="3" name="Text 1"/>
          <p:cNvSpPr/>
          <p:nvPr/>
        </p:nvSpPr>
        <p:spPr>
          <a:xfrm>
            <a:off x="4572000" y="914400"/>
            <a:ext cx="4114800" cy="320040"/>
          </a:xfrm>
          <a:prstGeom prst="rect">
            <a:avLst/>
          </a:prstGeom>
          <a:noFill/>
          <a:ln/>
        </p:spPr>
        <p:txBody>
          <a:bodyPr wrap="square" lIns="0" tIns="0" rIns="0" bIns="0" rtlCol="0" anchor="ctr"/>
          <a:lstStyle/>
          <a:p>
            <a:pPr indent="0" marL="0">
              <a:buNone/>
            </a:pPr>
            <a:r>
              <a:rPr lang="en-US" sz="1100" b="1" spc="600" kern="0" dirty="0">
                <a:solidFill>
                  <a:srgbClr val="1C7293"/>
                </a:solidFill>
                <a:latin typeface="Calibri" pitchFamily="34" charset="0"/>
                <a:ea typeface="Calibri" pitchFamily="34" charset="-122"/>
                <a:cs typeface="Calibri" pitchFamily="34" charset="-120"/>
              </a:rPr>
              <a:t>TAKEAWAY</a:t>
            </a:r>
            <a:endParaRPr lang="en-US" sz="1100" dirty="0"/>
          </a:p>
        </p:txBody>
      </p:sp>
      <p:sp>
        <p:nvSpPr>
          <p:cNvPr id="4" name="Text 2"/>
          <p:cNvSpPr/>
          <p:nvPr/>
        </p:nvSpPr>
        <p:spPr>
          <a:xfrm>
            <a:off x="4572000" y="1280160"/>
            <a:ext cx="4114800" cy="10972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No single signal gets to decide.</a:t>
            </a:r>
            <a:endParaRPr lang="en-US" sz="2600" dirty="0"/>
          </a:p>
        </p:txBody>
      </p:sp>
      <p:sp>
        <p:nvSpPr>
          <p:cNvPr id="5" name="Text 3"/>
          <p:cNvSpPr/>
          <p:nvPr/>
        </p:nvSpPr>
        <p:spPr>
          <a:xfrm>
            <a:off x="4572000" y="2514600"/>
            <a:ext cx="4114800" cy="1645920"/>
          </a:xfrm>
          <a:prstGeom prst="rect">
            <a:avLst/>
          </a:prstGeom>
          <a:noFill/>
          <a:ln/>
        </p:spPr>
        <p:txBody>
          <a:bodyPr wrap="square" rtlCol="0" anchor="t"/>
          <a:lstStyle/>
          <a:p>
            <a:pPr indent="0" marL="0">
              <a:spcAft>
                <a:spcPts val="600"/>
              </a:spcAft>
              <a:buNone/>
            </a:pPr>
            <a:r>
              <a:rPr lang="en-US" sz="1400" dirty="0">
                <a:solidFill>
                  <a:srgbClr val="CADCFC"/>
                </a:solidFill>
                <a:latin typeface="Calibri" pitchFamily="34" charset="0"/>
                <a:ea typeface="Calibri" pitchFamily="34" charset="-122"/>
                <a:cs typeface="Calibri" pitchFamily="34" charset="-120"/>
              </a:rPr>
              <a:t>Four detectors propose; cutadapt disposes.</a:t>
            </a:r>
            <a:endParaRPr lang="en-US" sz="1400" dirty="0"/>
          </a:p>
          <a:p>
            <a:pPr indent="0" marL="0">
              <a:spcAft>
                <a:spcPts val="600"/>
              </a:spcAft>
              <a:buNone/>
            </a:pPr>
            <a:r>
              <a:rPr lang="en-US" sz="1400" dirty="0">
                <a:solidFill>
                  <a:srgbClr val="CADCFC"/>
                </a:solidFill>
                <a:latin typeface="Calibri" pitchFamily="34" charset="0"/>
                <a:ea typeface="Calibri" pitchFamily="34" charset="-122"/>
                <a:cs typeface="Calibri" pitchFamily="34" charset="-120"/>
              </a:rPr>
              <a:t>HIGH confidence requires a database, an enrichment test,</a:t>
            </a:r>
            <a:endParaRPr lang="en-US" sz="1400" dirty="0"/>
          </a:p>
          <a:p>
            <a:pPr indent="0" marL="0">
              <a:spcAft>
                <a:spcPts val="600"/>
              </a:spcAft>
              <a:buNone/>
            </a:pPr>
            <a:r>
              <a:rPr lang="en-US" sz="1400" dirty="0">
                <a:solidFill>
                  <a:srgbClr val="CADCFC"/>
                </a:solidFill>
                <a:latin typeface="Calibri" pitchFamily="34" charset="0"/>
                <a:ea typeface="Calibri" pitchFamily="34" charset="-122"/>
                <a:cs typeface="Calibri" pitchFamily="34" charset="-120"/>
              </a:rPr>
              <a:t>AND an industry-standard trimmer to all agree on the same anchor.</a:t>
            </a:r>
            <a:endParaRPr lang="en-US" sz="1400" dirty="0"/>
          </a:p>
        </p:txBody>
      </p:sp>
      <p:sp>
        <p:nvSpPr>
          <p:cNvPr id="6" name="Shape 4"/>
          <p:cNvSpPr/>
          <p:nvPr/>
        </p:nvSpPr>
        <p:spPr>
          <a:xfrm>
            <a:off x="4572000" y="4114800"/>
            <a:ext cx="914400" cy="36576"/>
          </a:xfrm>
          <a:prstGeom prst="rect">
            <a:avLst/>
          </a:prstGeom>
          <a:solidFill>
            <a:srgbClr val="1C7293"/>
          </a:solidFill>
          <a:ln w="12700">
            <a:solidFill>
              <a:srgbClr val="1C7293"/>
            </a:solidFill>
            <a:prstDash val="solid"/>
          </a:ln>
        </p:spPr>
      </p:sp>
      <p:sp>
        <p:nvSpPr>
          <p:cNvPr id="7" name="Text 5"/>
          <p:cNvSpPr/>
          <p:nvPr/>
        </p:nvSpPr>
        <p:spPr>
          <a:xfrm>
            <a:off x="4572000" y="4206240"/>
            <a:ext cx="4114800" cy="640080"/>
          </a:xfrm>
          <a:prstGeom prst="rect">
            <a:avLst/>
          </a:prstGeom>
          <a:noFill/>
          <a:ln/>
        </p:spPr>
        <p:txBody>
          <a:bodyPr wrap="square" rtlCol="0" anchor="t"/>
          <a:lstStyle/>
          <a:p>
            <a:pPr indent="0" marL="0">
              <a:buNone/>
            </a:pPr>
            <a:r>
              <a:rPr lang="en-US" sz="1100" i="1" dirty="0">
                <a:solidFill>
                  <a:srgbClr val="CADCFC"/>
                </a:solidFill>
                <a:latin typeface="Calibri" pitchFamily="34" charset="0"/>
                <a:ea typeface="Calibri" pitchFamily="34" charset="-122"/>
                <a:cs typeface="Calibri" pitchFamily="34" charset="-120"/>
              </a:rPr>
              <a:t>That's what makes the downstream pipeline safe to run unattended.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sp>
      <p:sp>
        <p:nvSpPr>
          <p:cNvPr id="3" name="Text 1"/>
          <p:cNvSpPr/>
          <p:nvPr/>
        </p:nvSpPr>
        <p:spPr>
          <a:xfrm>
            <a:off x="502920" y="164592"/>
            <a:ext cx="8229600" cy="228600"/>
          </a:xfrm>
          <a:prstGeom prst="rect">
            <a:avLst/>
          </a:prstGeom>
          <a:noFill/>
          <a:ln/>
        </p:spPr>
        <p:txBody>
          <a:bodyPr wrap="square" lIns="0" tIns="0" rIns="0" bIns="0" rtlCol="0" anchor="ctr"/>
          <a:lstStyle/>
          <a:p>
            <a:pPr algn="l" indent="0" marL="0">
              <a:buNone/>
            </a:pPr>
            <a:r>
              <a:rPr lang="en-US" sz="1000" b="1" spc="400" kern="0" dirty="0">
                <a:solidFill>
                  <a:srgbClr val="1C7293"/>
                </a:solidFill>
                <a:latin typeface="Calibri" pitchFamily="34" charset="0"/>
                <a:ea typeface="Calibri" pitchFamily="34" charset="-122"/>
                <a:cs typeface="Calibri" pitchFamily="34" charset="-120"/>
              </a:rPr>
              <a:t>SOURCES &amp; FURTHER READING</a:t>
            </a:r>
            <a:endParaRPr lang="en-US" sz="1000" dirty="0"/>
          </a:p>
        </p:txBody>
      </p:sp>
      <p:sp>
        <p:nvSpPr>
          <p:cNvPr id="4" name="Text 2"/>
          <p:cNvSpPr/>
          <p:nvPr/>
        </p:nvSpPr>
        <p:spPr>
          <a:xfrm>
            <a:off x="502920" y="320040"/>
            <a:ext cx="8229600" cy="640080"/>
          </a:xfrm>
          <a:prstGeom prst="rect">
            <a:avLst/>
          </a:prstGeom>
          <a:noFill/>
          <a:ln/>
        </p:spPr>
        <p:txBody>
          <a:bodyPr wrap="square" lIns="0" tIns="0" rIns="0" bIns="0" rtlCol="0" anchor="ctr"/>
          <a:lstStyle/>
          <a:p>
            <a:pPr algn="l" indent="0" marL="0">
              <a:buNone/>
            </a:pPr>
            <a:r>
              <a:rPr lang="en-US" sz="2800" b="1" dirty="0">
                <a:solidFill>
                  <a:srgbClr val="21295C"/>
                </a:solidFill>
                <a:latin typeface="Calibri" pitchFamily="34" charset="0"/>
                <a:ea typeface="Calibri" pitchFamily="34" charset="-122"/>
                <a:cs typeface="Calibri" pitchFamily="34" charset="-120"/>
              </a:rPr>
              <a:t>Code, tools, papers.</a:t>
            </a:r>
            <a:endParaRPr lang="en-US" sz="2800" dirty="0"/>
          </a:p>
        </p:txBody>
      </p:sp>
      <p:sp>
        <p:nvSpPr>
          <p:cNvPr id="5" name="Shape 3"/>
          <p:cNvSpPr/>
          <p:nvPr/>
        </p:nvSpPr>
        <p:spPr>
          <a:xfrm>
            <a:off x="548640" y="1280160"/>
            <a:ext cx="8229600" cy="10972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6" name="Text 4"/>
          <p:cNvSpPr/>
          <p:nvPr/>
        </p:nvSpPr>
        <p:spPr>
          <a:xfrm>
            <a:off x="731520" y="1371600"/>
            <a:ext cx="7863840" cy="274320"/>
          </a:xfrm>
          <a:prstGeom prst="rect">
            <a:avLst/>
          </a:prstGeom>
          <a:noFill/>
          <a:ln/>
        </p:spPr>
        <p:txBody>
          <a:bodyPr wrap="square" rtlCol="0" anchor="ctr"/>
          <a:lstStyle/>
          <a:p>
            <a:pPr indent="0" marL="0">
              <a:buNone/>
            </a:pPr>
            <a:r>
              <a:rPr lang="en-US" sz="1100" b="1" spc="200" kern="0" dirty="0">
                <a:solidFill>
                  <a:srgbClr val="065A82"/>
                </a:solidFill>
                <a:latin typeface="Calibri" pitchFamily="34" charset="0"/>
                <a:ea typeface="Calibri" pitchFamily="34" charset="-122"/>
                <a:cs typeface="Calibri" pitchFamily="34" charset="-120"/>
              </a:rPr>
              <a:t>Algorithm code</a:t>
            </a:r>
            <a:endParaRPr lang="en-US" sz="1100" dirty="0"/>
          </a:p>
        </p:txBody>
      </p:sp>
      <p:sp>
        <p:nvSpPr>
          <p:cNvPr id="7" name="Text 5"/>
          <p:cNvSpPr/>
          <p:nvPr/>
        </p:nvSpPr>
        <p:spPr>
          <a:xfrm>
            <a:off x="731520" y="1691640"/>
            <a:ext cx="7863840" cy="640080"/>
          </a:xfrm>
          <a:prstGeom prst="rect">
            <a:avLst/>
          </a:prstGeom>
          <a:noFill/>
          <a:ln/>
        </p:spPr>
        <p:txBody>
          <a:bodyPr wrap="square" rtlCol="0" anchor="t"/>
          <a:lstStyle/>
          <a:p>
            <a:pPr indent="0" marL="0">
              <a:spcAft>
                <a:spcPts val="200"/>
              </a:spcAft>
              <a:buNone/>
            </a:pPr>
            <a:r>
              <a:rPr lang="en-US" sz="1100" dirty="0">
                <a:solidFill>
                  <a:srgbClr val="1E293B"/>
                </a:solidFill>
                <a:latin typeface="Courier New" pitchFamily="34" charset="0"/>
                <a:ea typeface="Courier New" pitchFamily="34" charset="-122"/>
                <a:cs typeface="Courier New" pitchFamily="34" charset="-120"/>
              </a:rPr>
              <a:t>scripts/mbx_primer_identifier_pro.sh    (orchestrator + B/C/D/E)</a:t>
            </a:r>
            <a:endParaRPr lang="en-US" sz="1100" dirty="0"/>
          </a:p>
          <a:p>
            <a:pPr indent="0" marL="0">
              <a:spcAft>
                <a:spcPts val="200"/>
              </a:spcAft>
              <a:buNone/>
            </a:pPr>
            <a:r>
              <a:rPr lang="en-US" sz="1100" dirty="0">
                <a:solidFill>
                  <a:srgbClr val="1E293B"/>
                </a:solidFill>
                <a:latin typeface="Courier New" pitchFamily="34" charset="0"/>
                <a:ea typeface="Courier New" pitchFamily="34" charset="-122"/>
                <a:cs typeface="Courier New" pitchFamily="34" charset="-120"/>
              </a:rPr>
              <a:t>scripts/mbx_primer_identifier.sh        (internal Detector A)</a:t>
            </a:r>
            <a:endParaRPr lang="en-US" sz="1100" dirty="0"/>
          </a:p>
        </p:txBody>
      </p:sp>
      <p:sp>
        <p:nvSpPr>
          <p:cNvPr id="8" name="Shape 6"/>
          <p:cNvSpPr/>
          <p:nvPr/>
        </p:nvSpPr>
        <p:spPr>
          <a:xfrm>
            <a:off x="548640" y="2468880"/>
            <a:ext cx="8229600" cy="10972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731520" y="2560320"/>
            <a:ext cx="7863840" cy="274320"/>
          </a:xfrm>
          <a:prstGeom prst="rect">
            <a:avLst/>
          </a:prstGeom>
          <a:noFill/>
          <a:ln/>
        </p:spPr>
        <p:txBody>
          <a:bodyPr wrap="square" rtlCol="0" anchor="ctr"/>
          <a:lstStyle/>
          <a:p>
            <a:pPr indent="0" marL="0">
              <a:buNone/>
            </a:pPr>
            <a:r>
              <a:rPr lang="en-US" sz="1100" b="1" spc="200" kern="0" dirty="0">
                <a:solidFill>
                  <a:srgbClr val="065A82"/>
                </a:solidFill>
                <a:latin typeface="Calibri" pitchFamily="34" charset="0"/>
                <a:ea typeface="Calibri" pitchFamily="34" charset="-122"/>
                <a:cs typeface="Calibri" pitchFamily="34" charset="-120"/>
              </a:rPr>
              <a:t>External tools used</a:t>
            </a:r>
            <a:endParaRPr lang="en-US" sz="1100" dirty="0"/>
          </a:p>
        </p:txBody>
      </p:sp>
      <p:sp>
        <p:nvSpPr>
          <p:cNvPr id="10" name="Text 8"/>
          <p:cNvSpPr/>
          <p:nvPr/>
        </p:nvSpPr>
        <p:spPr>
          <a:xfrm>
            <a:off x="731520" y="2880360"/>
            <a:ext cx="7863840" cy="640080"/>
          </a:xfrm>
          <a:prstGeom prst="rect">
            <a:avLst/>
          </a:prstGeom>
          <a:noFill/>
          <a:ln/>
        </p:spPr>
        <p:txBody>
          <a:bodyPr wrap="square"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cutadapt (Martin 2011, EMBnet Journal 17:10-12) · fastp (Chen et al. 2018, Bioinformatics 34:i884) · IUPAC nucleotide codes (Cornish-Bowden 1985, NAR 13:3021)</a:t>
            </a:r>
            <a:endParaRPr lang="en-US" sz="1200" dirty="0"/>
          </a:p>
        </p:txBody>
      </p:sp>
      <p:sp>
        <p:nvSpPr>
          <p:cNvPr id="11" name="Shape 9"/>
          <p:cNvSpPr/>
          <p:nvPr/>
        </p:nvSpPr>
        <p:spPr>
          <a:xfrm>
            <a:off x="548640" y="3657600"/>
            <a:ext cx="8229600" cy="10972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2000"/>
              </a:srgbClr>
            </a:outerShdw>
          </a:effectLst>
        </p:spPr>
      </p:sp>
      <p:sp>
        <p:nvSpPr>
          <p:cNvPr id="12" name="Text 10"/>
          <p:cNvSpPr/>
          <p:nvPr/>
        </p:nvSpPr>
        <p:spPr>
          <a:xfrm>
            <a:off x="731520" y="3749040"/>
            <a:ext cx="7863840" cy="274320"/>
          </a:xfrm>
          <a:prstGeom prst="rect">
            <a:avLst/>
          </a:prstGeom>
          <a:noFill/>
          <a:ln/>
        </p:spPr>
        <p:txBody>
          <a:bodyPr wrap="square" rtlCol="0" anchor="ctr"/>
          <a:lstStyle/>
          <a:p>
            <a:pPr indent="0" marL="0">
              <a:buNone/>
            </a:pPr>
            <a:r>
              <a:rPr lang="en-US" sz="1100" b="1" spc="200" kern="0" dirty="0">
                <a:solidFill>
                  <a:srgbClr val="065A82"/>
                </a:solidFill>
                <a:latin typeface="Calibri" pitchFamily="34" charset="0"/>
                <a:ea typeface="Calibri" pitchFamily="34" charset="-122"/>
                <a:cs typeface="Calibri" pitchFamily="34" charset="-120"/>
              </a:rPr>
              <a:t>Companion files in this folder</a:t>
            </a:r>
            <a:endParaRPr lang="en-US" sz="1100" dirty="0"/>
          </a:p>
        </p:txBody>
      </p:sp>
      <p:sp>
        <p:nvSpPr>
          <p:cNvPr id="13" name="Text 11"/>
          <p:cNvSpPr/>
          <p:nvPr/>
        </p:nvSpPr>
        <p:spPr>
          <a:xfrm>
            <a:off x="731520" y="4069080"/>
            <a:ext cx="7863840" cy="640080"/>
          </a:xfrm>
          <a:prstGeom prst="rect">
            <a:avLst/>
          </a:prstGeom>
          <a:noFill/>
          <a:ln/>
        </p:spPr>
        <p:txBody>
          <a:bodyPr wrap="square" rtlCol="0" anchor="t"/>
          <a:lstStyle/>
          <a:p>
            <a:pPr indent="0" marL="0">
              <a:buNone/>
            </a:pPr>
            <a:r>
              <a:rPr lang="en-US" sz="1100" b="1" dirty="0">
                <a:solidFill>
                  <a:srgbClr val="21295C"/>
                </a:solidFill>
                <a:latin typeface="Calibri" pitchFamily="34" charset="0"/>
                <a:ea typeface="Calibri" pitchFamily="34" charset="-122"/>
                <a:cs typeface="Calibri" pitchFamily="34" charset="-120"/>
              </a:rPr>
              <a:t>README.md</a:t>
            </a:r>
            <a:pPr indent="0" marL="0">
              <a:buNone/>
            </a:pPr>
            <a:r>
              <a:rPr lang="en-US" sz="1100" dirty="0">
                <a:solidFill>
                  <a:srgbClr val="1E293B"/>
                </a:solidFill>
                <a:latin typeface="Calibri" pitchFamily="34" charset="0"/>
                <a:ea typeface="Calibri" pitchFamily="34" charset="-122"/>
                <a:cs typeface="Calibri" pitchFamily="34" charset="-120"/>
              </a:rPr>
              <a:t>  — one-page handout that mirrors what I said.</a:t>
            </a:r>
            <a:endParaRPr lang="en-US" sz="1100" dirty="0"/>
          </a:p>
          <a:p>
            <a:pPr indent="0" marL="0">
              <a:buNone/>
            </a:pPr>
            <a:r>
              <a:rPr lang="en-US" sz="1100" b="1" dirty="0">
                <a:solidFill>
                  <a:srgbClr val="21295C"/>
                </a:solidFill>
                <a:latin typeface="Calibri" pitchFamily="34" charset="0"/>
                <a:ea typeface="Calibri" pitchFamily="34" charset="-122"/>
                <a:cs typeface="Calibri" pitchFamily="34" charset="-120"/>
              </a:rPr>
              <a:t>0_primer_identifier_pro.html</a:t>
            </a:r>
            <a:pPr indent="0" marL="0">
              <a:buNone/>
            </a:pPr>
            <a:r>
              <a:rPr lang="en-US" sz="1100" dirty="0">
                <a:solidFill>
                  <a:srgbClr val="1E293B"/>
                </a:solidFill>
                <a:latin typeface="Calibri" pitchFamily="34" charset="0"/>
                <a:ea typeface="Calibri" pitchFamily="34" charset="-122"/>
                <a:cs typeface="Calibri" pitchFamily="34" charset="-120"/>
              </a:rPr>
              <a:t>  — same content, with copy buttons on every code block.</a:t>
            </a:r>
            <a:endParaRPr lang="en-US" sz="1100" dirty="0"/>
          </a:p>
        </p:txBody>
      </p:sp>
      <p:sp>
        <p:nvSpPr>
          <p:cNvPr id="14" name="Text 12"/>
          <p:cNvSpPr/>
          <p:nvPr/>
        </p:nvSpPr>
        <p:spPr>
          <a:xfrm>
            <a:off x="365760" y="4800600"/>
            <a:ext cx="841248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mbX Pro 1.5.0  ·  Step 0 — Primer Identifier (Pro)  ·  15/15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 0 — Primer Identifier (Pro)</dc:title>
  <dc:subject>mbX Pro 1.5.0</dc:subject>
  <dc:creator>utsav lamichhane</dc:creator>
  <cp:lastModifiedBy>utsav lamichhane</cp:lastModifiedBy>
  <cp:revision>1</cp:revision>
  <dcterms:created xsi:type="dcterms:W3CDTF">2026-06-15T01:56:46Z</dcterms:created>
  <dcterms:modified xsi:type="dcterms:W3CDTF">2026-06-15T01:56:46Z</dcterms:modified>
</cp:coreProperties>
</file>