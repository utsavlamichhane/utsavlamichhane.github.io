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0" y="-1097280"/>
            <a:ext cx="4572000" cy="640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0" b="1" dirty="0">
                <a:solidFill>
                  <a:srgbClr val="065A82">
                    <a:alpha val="5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360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8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12  /  mbX Pro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 Diversity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28346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metrics. KW + Dunn + CLD on every variable.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160520"/>
            <a:ext cx="1371600" cy="36576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429768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 release  ·  University talk  ·  mbX Pro 1.5.0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STEP EXISTS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diverse is each community?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234440"/>
            <a:ext cx="475488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 diversity = within-sample diversity. Two intuitions: richness (how many different things?) and evenness (are they balanced?). Five canonical metrics weight richness vs evenness vs phylogeny differently — running them all means the finding is robust to metric choice.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0" y="1234440"/>
            <a:ext cx="3246120" cy="3291840"/>
          </a:xfrm>
          <a:prstGeom prst="rect">
            <a:avLst/>
          </a:prstGeom>
          <a:solidFill>
            <a:srgbClr val="EAF2F8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623560" y="132588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metrics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623560" y="1691640"/>
            <a:ext cx="30175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Observed Features — pure richness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Shannon — richness + evenness, sensitive to rare taxa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Simpson — richness + evenness, weights common taxa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Pielou — pure evenness (normalised Shannon)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Faith PD — phylogenetically-aware richness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mbX Pro 1.5.0  ·  Step 12 — Alpha Diversity  ·  2/13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" y="1051560"/>
            <a:ext cx="868680" cy="8686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0515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417320" y="10515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on Step 11's verdict.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417320" y="178308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11 picked the depth + emitted READY_FOR_DIVERSITY. Step 12 refuses to run unless ready=yes (or the user passes --force).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67919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6060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READY_FOR_DIVERSITY=yes → proceed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18211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1089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READY_FOR_DIVERSITY=no → exit cleanly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32918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(unless --force is supplied, which the report records)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mbX Pro 1.5.0  ·  Step 12 — Alpha Diversity  ·  3/13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RAREFY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" y="1051560"/>
            <a:ext cx="868680" cy="8686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0515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417320" y="10515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Subsample every sample to the same depth.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417320" y="178308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qiime feature-table rarefy at the depth Step 11 chose. Every metric runs on the rarefied table — apples-to-apples.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67919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6060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depth d for every sample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278892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(eliminates sequencing-effort confounder)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" y="318211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1089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Cached: re-run reuses an existing rarefied_table.qza at the same depth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mbX Pro 1.5.0  ·  Step 12 — Alpha Diversity  ·  4/13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" y="1051560"/>
            <a:ext cx="868680" cy="8686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0515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417320" y="10515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five alpha metrics.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417320" y="178308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QIIME2's q2-diversity plugin, called five times. One vector per sample per metric.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72491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6517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Observed Features — count of distinct ASVs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28346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(pure richness)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" y="322783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1546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Shannon — H = −Σ p log p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33375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(rich + even, rare-taxa sensitive)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48640" y="373075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36576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Simpson — 1 − Σ p²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22960" y="38404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(rich + even, common-taxa weighted)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48640" y="423367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1605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Pielou — J = H / log(S)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2960" y="43434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(pure evenness)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48640" y="473659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46634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Faith PD — sub-tree branch length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22960" y="48463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(phylogenetically-aware richness)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852160" y="2743200"/>
            <a:ext cx="2880360" cy="1965960"/>
          </a:xfrm>
          <a:prstGeom prst="rect">
            <a:avLst/>
          </a:prstGeom>
          <a:solidFill>
            <a:srgbClr val="EAF2F8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989320" y="283464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five?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989320" y="3154680"/>
            <a:ext cx="265176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captures a different blend of richness/evenness/phylogeny.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finding robust across all five is much harder to dismiss than one that only shows in Shannon.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mbX Pro 1.5.0  ·  Step 12 — Alpha Diversity  ·  5/13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" y="1051560"/>
            <a:ext cx="868680" cy="8686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0515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417320" y="10515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alpha_diversity.xlsx.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417320" y="178308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the five TSV vectors with the metadata in R. One row per sample, five metric columns, plus every metadata column for downstream convenience.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67919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6060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tidy table — Step 13 and Step 18 both read this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18211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1089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joined in once, here, not by every consumer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mbX Pro 1.5.0  ·  Step 12 — Alpha Diversity  ·  6/13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" y="1051560"/>
            <a:ext cx="868680" cy="8686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0515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417320" y="10515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KW / Wilcoxon + Dunn + BH per (metric × variable).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417320" y="178308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statistical stack as Step 10 (non-parametric, BH-adjusted, Dunn post-hoc, CLD), applied to the five alpha metrics across every categorical variable.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67919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6060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groups → Wilcoxon; 3+ → Kruskal-Wallis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18211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1089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 correction across the 5 metrics within each variable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68503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6118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Dunn pairwise on KW hits → compact letter display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22960" y="37947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(the boxplot annotation)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mbX Pro 1.5.0  ·  Step 12 — Alpha Diversity  ·  7/13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" y="1051560"/>
            <a:ext cx="868680" cy="8686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0515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417320" y="10515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Boxplots with CLD letters on top.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417320" y="178308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boxplot per (metric × variable). Plus a multi-panel boxplot showing all five metrics for each variable so the reader can scan robustness at a glance.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67919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6060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Per-metric per-variable boxplot with CLD letters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278892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(significance readable off the figure)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" y="318211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1089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Multi-panel: all 5 metrics × one variable, side by side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32918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(robustness check)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48640" y="368503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36118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PNG (always) + SVG (always) + PDF (--publication-figures)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mbX Pro 1.5.0  ·  Step 12 — Alpha Diversity  ·  8/13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DEFAULTS — AND WHY THEY ARE WHAT THEY ARE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metrics. Non-parametric stats. BH.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8321040" cy="310896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14300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493008" y="1143000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230368" y="1143000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453896"/>
            <a:ext cx="832104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1453896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Rarefaction depth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493008" y="1453896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Step 11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230368" y="1453896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11 is the single source of truth.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" y="1764792"/>
            <a:ext cx="8321040" cy="310896"/>
          </a:xfrm>
          <a:prstGeom prst="rect">
            <a:avLst/>
          </a:prstGeom>
          <a:solidFill>
            <a:srgbClr val="EAF2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176479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493008" y="1764792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Observed Features, Shannon, Simpson, Pielou, Faith PD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230368" y="1764792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most-reported in microbiome papers.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57200" y="2075688"/>
            <a:ext cx="832104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207568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(2 groups)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493008" y="2075688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Wilcoxon rank-sum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230368" y="2075688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Alpha-diversity distributions are rarely normal.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57200" y="2386584"/>
            <a:ext cx="8321040" cy="310896"/>
          </a:xfrm>
          <a:prstGeom prst="rect">
            <a:avLst/>
          </a:prstGeom>
          <a:solidFill>
            <a:srgbClr val="EAF2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" y="2386584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(3+ groups)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493008" y="2386584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Kruskal-Wallis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230368" y="2386584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reasoning.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57200" y="2697480"/>
            <a:ext cx="832104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6928" y="26974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Post-hoc on KW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493008" y="2697480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Dunn's test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230368" y="2697480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non-parametric post-hoc.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57200" y="3008376"/>
            <a:ext cx="8321040" cy="310896"/>
          </a:xfrm>
          <a:prstGeom prst="rect">
            <a:avLst/>
          </a:prstGeom>
          <a:solidFill>
            <a:srgbClr val="EAF2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66928" y="3008376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Correction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3493008" y="3008376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BH across 5 metrics within each variable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230368" y="3008376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Conservative; field-standard.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57200" y="3319272"/>
            <a:ext cx="832104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66928" y="331927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 formats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3493008" y="3319272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PNG + SVG always; PDF on flag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5230368" y="3319272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Publication-ready by default.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57200" y="3630168"/>
            <a:ext cx="8321040" cy="310896"/>
          </a:xfrm>
          <a:prstGeom prst="rect">
            <a:avLst/>
          </a:prstGeom>
          <a:solidFill>
            <a:srgbClr val="EAF2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66928" y="363016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Threads / Seed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3493008" y="3630168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MBX_THREADS / MBX_SEED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5230368" y="3630168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source of truth.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mbX Pro 1.5.0  ·  Step 12 — Alpha Diversity  ·  9/13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FALLBACKS — AND WHY THEY EXIST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Respect Step 11. Skip degenerate cells.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321040" cy="256032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0058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474720" y="100584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IT TRIGGERS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080760" y="1005840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EXISTS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280160"/>
            <a:ext cx="83210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280160"/>
            <a:ext cx="91440" cy="566928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1325880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Refuse to run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474720" y="132588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READY_FOR_DIVERSITY=no from Step 11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080760" y="1325880"/>
            <a:ext cx="2697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11's verdict gates us. Override = --force, recorded.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1938528"/>
            <a:ext cx="83210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1938528"/>
            <a:ext cx="91440" cy="566928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198424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Skip Faith PD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474720" y="1984248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 missing (Step 11 failed it)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080760" y="1984248"/>
            <a:ext cx="2697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four metrics still run; Faith logged as skipped.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2596896"/>
            <a:ext cx="83210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2596896"/>
            <a:ext cx="91440" cy="566928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2642616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Skip a comparison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474720" y="2642616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Singleton groups after NA filter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080760" y="2642616"/>
            <a:ext cx="2697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KW/Wilcoxon need ≥ 2 obs per group.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3255264"/>
            <a:ext cx="83210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" y="3255264"/>
            <a:ext cx="91440" cy="566928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5800" y="3300984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Reuse rarefied table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474720" y="3300984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one at the same depth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080760" y="3300984"/>
            <a:ext cx="2697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Saves rarefaction time on re-runs.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7200" y="4480560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skip is logged with cell + reason. Final report sees the gaps.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mbX Pro 1.5.0  ·  Step 12 — Alpha Diversity  ·  10/13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Five-column tidy table + boxplots.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937760" y="1874520"/>
            <a:ext cx="384048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74920" y="1965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alpha_diversity.xlsx  (excerpt)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74920" y="2286000"/>
            <a:ext cx="36576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sample-id  Treatment  Features  Shannon  Simpson  Faith   Pielou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SampleA    High       412       5.23     0.91     28.4    0.866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SampleB    Low        367       4.92     0.88     25.1    0.834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SampleC    High       428       5.41     0.92     30.1    0.882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KW_&lt;metric&gt;_by_&lt;variable&gt;.xlsx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CLD_Summary_&lt;metric&gt;_by_&lt;variable&gt;.xlsx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boxplot_&lt;metric&gt;_by_&lt;variable&gt;.png/svg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mbX Pro 1.5.0  ·  Step 12 — Alpha Diversity  ·  11/13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182880" y="457200"/>
            <a:ext cx="594360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0" b="1" dirty="0">
                <a:solidFill>
                  <a:srgbClr val="065A82">
                    <a:alpha val="5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α</a:t>
            </a:r>
            <a:endParaRPr lang="en-US" sz="32000" dirty="0"/>
          </a:p>
        </p:txBody>
      </p:sp>
      <p:sp>
        <p:nvSpPr>
          <p:cNvPr id="3" name="Text 1"/>
          <p:cNvSpPr/>
          <p:nvPr/>
        </p:nvSpPr>
        <p:spPr>
          <a:xfrm>
            <a:off x="4572000" y="9144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0" y="1280160"/>
            <a:ext cx="411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views of within-sample diversity.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0" y="2514600"/>
            <a:ext cx="41148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Rarefy to the Step-11 depth.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canonical metrics computed in parallel.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KW + Dunn + BH + CLD make significance visible on every boxplot.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0" y="4114800"/>
            <a:ext cx="914400" cy="36576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0" y="420624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finding holds across all five metrics, it's hard to dismiss.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&amp; FURTHER READING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+ the five metric papers.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82296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3716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code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169164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scripts/mbx_alpha_diversity_run.sh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468880"/>
            <a:ext cx="82296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31520" y="25603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 papers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288036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Shannon 1948 BSTJ 27:379  ·  Simpson 1949 Nature 163:688  ·  Pielou 1966 J Theor Biol 13:131  ·  Faith 1992 Biol Conserv 61:1  ·  QIIME2 q2-diversity plugin.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3657600"/>
            <a:ext cx="82296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31520" y="37490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Companion files in this folder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406908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README.md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one-page handout.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12_alpha_diversity.html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same content, with copy buttons.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mbX Pro 1.5.0  ·  Step 12 — Alpha Diversity  ·  13/13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Step 12 — Alpha Diversity</dc:title>
  <dc:subject>mbX Pro 1.5.0</dc:subject>
  <dc:creator>utsav lamichhane</dc:creator>
  <cp:lastModifiedBy>utsav lamichhane</cp:lastModifiedBy>
  <cp:revision>1</cp:revision>
  <dcterms:created xsi:type="dcterms:W3CDTF">2026-06-15T03:43:53Z</dcterms:created>
  <dcterms:modified xsi:type="dcterms:W3CDTF">2026-06-15T03:43:53Z</dcterms:modified>
</cp:coreProperties>
</file>